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1_869C0C2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99" r:id="rId2"/>
    <p:sldId id="289" r:id="rId3"/>
  </p:sldIdLst>
  <p:sldSz cx="6858000" cy="9906000" type="A4"/>
  <p:notesSz cx="6705600" cy="8991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729587-86D1-46BA-A457-2A13D03B752B}">
          <p14:sldIdLst>
            <p14:sldId id="299"/>
            <p14:sldId id="289"/>
          </p14:sldIdLst>
        </p14:section>
        <p14:section name="Untitled Section" id="{C061E135-CF40-4965-8064-19D7B7473205}">
          <p14:sldIdLst/>
        </p14:section>
      </p14:sectionLst>
    </p:ext>
    <p:ext uri="{EFAFB233-063F-42B5-8137-9DF3F51BA10A}">
      <p15:sldGuideLst xmlns:p15="http://schemas.microsoft.com/office/powerpoint/2012/main">
        <p15:guide id="1" orient="horz" pos="3120">
          <p15:clr>
            <a:srgbClr val="A4A3A4"/>
          </p15:clr>
        </p15:guide>
        <p15:guide id="2" pos="1462">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80B4F6-E419-3DE6-DFC5-E1A3BA3ADB52}" name="reksodiputroaditya@gmail.com" initials="r" userId="78a027df749d434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6F7F83-B124-4E9C-B428-E10C844BCB88}" v="17" dt="2026-03-12T04:20:13.4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79" autoAdjust="0"/>
    <p:restoredTop sz="95748"/>
  </p:normalViewPr>
  <p:slideViewPr>
    <p:cSldViewPr snapToGrid="0" snapToObjects="1">
      <p:cViewPr>
        <p:scale>
          <a:sx n="150" d="100"/>
          <a:sy n="150" d="100"/>
        </p:scale>
        <p:origin x="2250" y="108"/>
      </p:cViewPr>
      <p:guideLst>
        <p:guide orient="horz" pos="3120"/>
        <p:guide pos="1462"/>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8/10/relationships/authors" Target="authors.xml"/><Relationship Id="rId4" Type="http://schemas.openxmlformats.org/officeDocument/2006/relationships/notesMaster" Target="notesMasters/notesMaster1.xml"/><Relationship Id="rId9" Type="http://schemas.microsoft.com/office/2015/10/relationships/revisionInfo" Target="revisionInfo.xml"/></Relationships>
</file>

<file path=ppt/comments/modernComment_121_869C0C24.xml><?xml version="1.0" encoding="utf-8"?>
<p188:cmLst xmlns:a="http://schemas.openxmlformats.org/drawingml/2006/main" xmlns:r="http://schemas.openxmlformats.org/officeDocument/2006/relationships" xmlns:p188="http://schemas.microsoft.com/office/powerpoint/2018/8/main">
  <p188:cm id="{7ED814A9-110F-455D-956D-17E8ED412B73}" authorId="{CD80B4F6-E419-3DE6-DFC5-E1A3BA3ADB52}" created="2025-11-12T04:01:18.601">
    <ac:txMkLst xmlns:ac="http://schemas.microsoft.com/office/drawing/2013/main/command">
      <pc:docMk xmlns:pc="http://schemas.microsoft.com/office/powerpoint/2013/main/command"/>
      <pc:sldMk xmlns:pc="http://schemas.microsoft.com/office/powerpoint/2013/main/command" cId="2258373668" sldId="289"/>
      <ac:graphicFrameMk id="54" creationId="{71E70619-3E91-9DD3-870C-9A17A3AA10C6}"/>
      <ac:tblMk/>
      <ac:tcMk rowId="2744502873" colId="3166622237"/>
      <ac:txMk cp="5" len="2">
        <ac:context len="8" hash="2928334341"/>
      </ac:txMk>
    </ac:txMkLst>
    <p188:txBody>
      <a:bodyPr/>
      <a:lstStyle/>
      <a:p>
        <a:r>
          <a:rPr lang="en-US"/>
          <a:t>1 decimal point</a:t>
        </a:r>
      </a:p>
    </p188:txBody>
  </p188:cm>
  <p188:cm id="{94405CB7-8408-4720-AF19-114F4F32FA7D}" authorId="{CD80B4F6-E419-3DE6-DFC5-E1A3BA3ADB52}" created="2025-11-12T04:10:44.221">
    <ac:txMkLst xmlns:ac="http://schemas.microsoft.com/office/drawing/2013/main/command">
      <pc:docMk xmlns:pc="http://schemas.microsoft.com/office/powerpoint/2013/main/command"/>
      <pc:sldMk xmlns:pc="http://schemas.microsoft.com/office/powerpoint/2013/main/command" cId="3402837914" sldId="287"/>
      <ac:spMk id="7" creationId="{64FE1922-FF43-E28C-4DE9-1B56BBBDCAFB}"/>
      <ac:txMk cp="0">
        <ac:context len="342" hash="148027605"/>
      </ac:txMk>
    </ac:txMkLst>
    <p188:txBody>
      <a:bodyPr/>
      <a:lstStyle/>
      <a:p>
        <a:r>
          <a:rPr lang="en-US"/>
          <a:t>Increase font size to 8</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05760" cy="451142"/>
          </a:xfrm>
          <a:prstGeom prst="rect">
            <a:avLst/>
          </a:prstGeom>
        </p:spPr>
        <p:txBody>
          <a:bodyPr vert="horz" lIns="89693" tIns="44847" rIns="89693" bIns="44847" rtlCol="0"/>
          <a:lstStyle>
            <a:lvl1pPr algn="l">
              <a:defRPr sz="1200"/>
            </a:lvl1pPr>
          </a:lstStyle>
          <a:p>
            <a:endParaRPr lang="en-US"/>
          </a:p>
        </p:txBody>
      </p:sp>
      <p:sp>
        <p:nvSpPr>
          <p:cNvPr id="3" name="Date Placeholder 2"/>
          <p:cNvSpPr>
            <a:spLocks noGrp="1"/>
          </p:cNvSpPr>
          <p:nvPr>
            <p:ph type="dt" idx="1"/>
          </p:nvPr>
        </p:nvSpPr>
        <p:spPr>
          <a:xfrm>
            <a:off x="3798288" y="0"/>
            <a:ext cx="2905760" cy="451142"/>
          </a:xfrm>
          <a:prstGeom prst="rect">
            <a:avLst/>
          </a:prstGeom>
        </p:spPr>
        <p:txBody>
          <a:bodyPr vert="horz" lIns="89693" tIns="44847" rIns="89693" bIns="44847" rtlCol="0"/>
          <a:lstStyle>
            <a:lvl1pPr algn="r">
              <a:defRPr sz="1200"/>
            </a:lvl1pPr>
          </a:lstStyle>
          <a:p>
            <a:fld id="{61E05F22-464F-314F-AADC-63E6550F5FC7}" type="datetimeFigureOut">
              <a:rPr lang="en-US" smtClean="0"/>
              <a:t>6/7/2026</a:t>
            </a:fld>
            <a:endParaRPr lang="en-US"/>
          </a:p>
        </p:txBody>
      </p:sp>
      <p:sp>
        <p:nvSpPr>
          <p:cNvPr id="4" name="Slide Image Placeholder 3"/>
          <p:cNvSpPr>
            <a:spLocks noGrp="1" noRot="1" noChangeAspect="1"/>
          </p:cNvSpPr>
          <p:nvPr>
            <p:ph type="sldImg" idx="2"/>
          </p:nvPr>
        </p:nvSpPr>
        <p:spPr>
          <a:xfrm>
            <a:off x="2303463" y="1123950"/>
            <a:ext cx="2098675" cy="3035300"/>
          </a:xfrm>
          <a:prstGeom prst="rect">
            <a:avLst/>
          </a:prstGeom>
          <a:noFill/>
          <a:ln w="12700">
            <a:solidFill>
              <a:prstClr val="black"/>
            </a:solidFill>
          </a:ln>
        </p:spPr>
        <p:txBody>
          <a:bodyPr vert="horz" lIns="89693" tIns="44847" rIns="89693" bIns="44847" rtlCol="0" anchor="ctr"/>
          <a:lstStyle/>
          <a:p>
            <a:endParaRPr lang="en-US"/>
          </a:p>
        </p:txBody>
      </p:sp>
      <p:sp>
        <p:nvSpPr>
          <p:cNvPr id="5" name="Notes Placeholder 4"/>
          <p:cNvSpPr>
            <a:spLocks noGrp="1"/>
          </p:cNvSpPr>
          <p:nvPr>
            <p:ph type="body" sz="quarter" idx="3"/>
          </p:nvPr>
        </p:nvSpPr>
        <p:spPr>
          <a:xfrm>
            <a:off x="670560" y="4327207"/>
            <a:ext cx="5364480" cy="3540443"/>
          </a:xfrm>
          <a:prstGeom prst="rect">
            <a:avLst/>
          </a:prstGeom>
        </p:spPr>
        <p:txBody>
          <a:bodyPr vert="horz" lIns="89693" tIns="44847" rIns="89693" bIns="448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540460"/>
            <a:ext cx="2905760" cy="451141"/>
          </a:xfrm>
          <a:prstGeom prst="rect">
            <a:avLst/>
          </a:prstGeom>
        </p:spPr>
        <p:txBody>
          <a:bodyPr vert="horz" lIns="89693" tIns="44847" rIns="89693" bIns="44847" rtlCol="0" anchor="b"/>
          <a:lstStyle>
            <a:lvl1pPr algn="l">
              <a:defRPr sz="1200"/>
            </a:lvl1pPr>
          </a:lstStyle>
          <a:p>
            <a:endParaRPr lang="en-US"/>
          </a:p>
        </p:txBody>
      </p:sp>
      <p:sp>
        <p:nvSpPr>
          <p:cNvPr id="7" name="Slide Number Placeholder 6"/>
          <p:cNvSpPr>
            <a:spLocks noGrp="1"/>
          </p:cNvSpPr>
          <p:nvPr>
            <p:ph type="sldNum" sz="quarter" idx="5"/>
          </p:nvPr>
        </p:nvSpPr>
        <p:spPr>
          <a:xfrm>
            <a:off x="3798288" y="8540460"/>
            <a:ext cx="2905760" cy="451141"/>
          </a:xfrm>
          <a:prstGeom prst="rect">
            <a:avLst/>
          </a:prstGeom>
        </p:spPr>
        <p:txBody>
          <a:bodyPr vert="horz" lIns="89693" tIns="44847" rIns="89693" bIns="44847" rtlCol="0" anchor="b"/>
          <a:lstStyle>
            <a:lvl1pPr algn="r">
              <a:defRPr sz="1200"/>
            </a:lvl1pPr>
          </a:lstStyle>
          <a:p>
            <a:fld id="{D916D468-DE21-2548-B70E-7FB55FEB3618}" type="slidenum">
              <a:rPr lang="en-US" smtClean="0"/>
              <a:t>‹#›</a:t>
            </a:fld>
            <a:endParaRPr lang="en-US"/>
          </a:p>
        </p:txBody>
      </p:sp>
    </p:spTree>
    <p:extLst>
      <p:ext uri="{BB962C8B-B14F-4D97-AF65-F5344CB8AC3E}">
        <p14:creationId xmlns:p14="http://schemas.microsoft.com/office/powerpoint/2010/main" val="834052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2A73-15EE-66FA-AE56-8208A3F35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D08FA-31E9-B168-18C7-BD003D528BFA}"/>
              </a:ext>
            </a:extLst>
          </p:cNvPr>
          <p:cNvSpPr>
            <a:spLocks noGrp="1" noRot="1" noChangeAspect="1"/>
          </p:cNvSpPr>
          <p:nvPr>
            <p:ph type="sldImg"/>
          </p:nvPr>
        </p:nvSpPr>
        <p:spPr/>
        <p:txBody>
          <a:bodyPr/>
          <a:lstStyle/>
          <a:p>
            <a:endParaRPr lang="en-ID"/>
          </a:p>
        </p:txBody>
      </p:sp>
      <p:sp>
        <p:nvSpPr>
          <p:cNvPr id="3" name="Notes Placeholder 2">
            <a:extLst>
              <a:ext uri="{FF2B5EF4-FFF2-40B4-BE49-F238E27FC236}">
                <a16:creationId xmlns:a16="http://schemas.microsoft.com/office/drawing/2014/main" id="{8CB5C31E-8033-5B30-8FAD-D15CA21613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6EA25D-2EC6-5671-A661-B9E03A515310}"/>
              </a:ext>
            </a:extLst>
          </p:cNvPr>
          <p:cNvSpPr>
            <a:spLocks noGrp="1"/>
          </p:cNvSpPr>
          <p:nvPr>
            <p:ph type="sldNum" sz="quarter" idx="10"/>
          </p:nvPr>
        </p:nvSpPr>
        <p:spPr/>
        <p:txBody>
          <a:bodyPr/>
          <a:lstStyle/>
          <a:p>
            <a:fld id="{D916D468-DE21-2548-B70E-7FB55FEB3618}" type="slidenum">
              <a:rPr lang="en-US" smtClean="0"/>
              <a:t>1</a:t>
            </a:fld>
            <a:endParaRPr lang="en-US"/>
          </a:p>
        </p:txBody>
      </p:sp>
    </p:spTree>
    <p:extLst>
      <p:ext uri="{BB962C8B-B14F-4D97-AF65-F5344CB8AC3E}">
        <p14:creationId xmlns:p14="http://schemas.microsoft.com/office/powerpoint/2010/main" val="3457120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4808-AA34-B392-49B2-22B698CD7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E0A96-1187-71BA-2DE7-8CA9A83D4BEA}"/>
              </a:ext>
            </a:extLst>
          </p:cNvPr>
          <p:cNvSpPr>
            <a:spLocks noGrp="1" noRot="1" noChangeAspect="1"/>
          </p:cNvSpPr>
          <p:nvPr>
            <p:ph type="sldImg"/>
          </p:nvPr>
        </p:nvSpPr>
        <p:spPr/>
        <p:txBody>
          <a:bodyPr/>
          <a:lstStyle/>
          <a:p>
            <a:endParaRPr lang="en-ID"/>
          </a:p>
        </p:txBody>
      </p:sp>
      <p:sp>
        <p:nvSpPr>
          <p:cNvPr id="3" name="Notes Placeholder 2">
            <a:extLst>
              <a:ext uri="{FF2B5EF4-FFF2-40B4-BE49-F238E27FC236}">
                <a16:creationId xmlns:a16="http://schemas.microsoft.com/office/drawing/2014/main" id="{8C4980E9-EAB4-5280-75DF-571C0F8882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97EA30-4897-66DE-9B1F-CEB0449476E1}"/>
              </a:ext>
            </a:extLst>
          </p:cNvPr>
          <p:cNvSpPr>
            <a:spLocks noGrp="1"/>
          </p:cNvSpPr>
          <p:nvPr>
            <p:ph type="sldNum" sz="quarter" idx="10"/>
          </p:nvPr>
        </p:nvSpPr>
        <p:spPr/>
        <p:txBody>
          <a:bodyPr/>
          <a:lstStyle/>
          <a:p>
            <a:fld id="{D916D468-DE21-2548-B70E-7FB55FEB3618}" type="slidenum">
              <a:rPr lang="en-US" smtClean="0"/>
              <a:t>2</a:t>
            </a:fld>
            <a:endParaRPr lang="en-US"/>
          </a:p>
        </p:txBody>
      </p:sp>
    </p:spTree>
    <p:extLst>
      <p:ext uri="{BB962C8B-B14F-4D97-AF65-F5344CB8AC3E}">
        <p14:creationId xmlns:p14="http://schemas.microsoft.com/office/powerpoint/2010/main" val="140187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3077282"/>
            <a:ext cx="5829300" cy="2123369"/>
          </a:xfrm>
        </p:spPr>
        <p:txBody>
          <a:bodyPr/>
          <a:lstStyle/>
          <a:p>
            <a:r>
              <a:rPr lang="en-US"/>
              <a:t>Click to edit Master title style</a:t>
            </a:r>
          </a:p>
        </p:txBody>
      </p:sp>
      <p:sp>
        <p:nvSpPr>
          <p:cNvPr id="3" name="Subtitle 2"/>
          <p:cNvSpPr>
            <a:spLocks noGrp="1"/>
          </p:cNvSpPr>
          <p:nvPr>
            <p:ph type="subTitle" idx="1"/>
          </p:nvPr>
        </p:nvSpPr>
        <p:spPr>
          <a:xfrm>
            <a:off x="1028700" y="5613400"/>
            <a:ext cx="4800600" cy="253153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4338C0-F834-274F-95C0-873AA6800746}"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3148424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338C0-F834-274F-95C0-873AA6800746}"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3243376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6365523"/>
            <a:ext cx="5829300" cy="1967442"/>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4198586"/>
            <a:ext cx="5829300" cy="21669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338C0-F834-274F-95C0-873AA6800746}"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2926676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3338690"/>
            <a:ext cx="2257425" cy="94428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3338690"/>
            <a:ext cx="2257425" cy="94428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4338C0-F834-274F-95C0-873AA6800746}"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262417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217385"/>
            <a:ext cx="303014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3141486"/>
            <a:ext cx="303014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217385"/>
            <a:ext cx="303133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3141486"/>
            <a:ext cx="303133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4338C0-F834-274F-95C0-873AA6800746}"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3853042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4338C0-F834-274F-95C0-873AA6800746}"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373386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338C0-F834-274F-95C0-873AA6800746}"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806850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4405"/>
            <a:ext cx="2256235" cy="167851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94406"/>
            <a:ext cx="3833813" cy="845449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072923"/>
            <a:ext cx="2256235" cy="67759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338C0-F834-274F-95C0-873AA6800746}"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67467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934200"/>
            <a:ext cx="4114800" cy="818622"/>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85119"/>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752822"/>
            <a:ext cx="4114800" cy="11625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338C0-F834-274F-95C0-873AA6800746}"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2886162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338C0-F834-274F-95C0-873AA6800746}"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1623525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573264"/>
            <a:ext cx="1157288" cy="122082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573264"/>
            <a:ext cx="3357563" cy="122082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4338C0-F834-274F-95C0-873AA6800746}"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80DE-62E3-8448-85E1-E211E189E1B5}" type="slidenum">
              <a:rPr lang="en-US" smtClean="0"/>
              <a:t>‹#›</a:t>
            </a:fld>
            <a:endParaRPr lang="en-US"/>
          </a:p>
        </p:txBody>
      </p:sp>
    </p:spTree>
    <p:extLst>
      <p:ext uri="{BB962C8B-B14F-4D97-AF65-F5344CB8AC3E}">
        <p14:creationId xmlns:p14="http://schemas.microsoft.com/office/powerpoint/2010/main" val="195655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311401"/>
            <a:ext cx="6172200" cy="65375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9181395"/>
            <a:ext cx="1600200" cy="527403"/>
          </a:xfrm>
          <a:prstGeom prst="rect">
            <a:avLst/>
          </a:prstGeom>
        </p:spPr>
        <p:txBody>
          <a:bodyPr vert="horz" lIns="91440" tIns="45720" rIns="91440" bIns="45720" rtlCol="0" anchor="ctr"/>
          <a:lstStyle>
            <a:lvl1pPr algn="l">
              <a:defRPr sz="1200">
                <a:solidFill>
                  <a:schemeClr val="tx1">
                    <a:tint val="75000"/>
                  </a:schemeClr>
                </a:solidFill>
              </a:defRPr>
            </a:lvl1pPr>
          </a:lstStyle>
          <a:p>
            <a:fld id="{1E4338C0-F834-274F-95C0-873AA6800746}" type="datetimeFigureOut">
              <a:rPr lang="en-US" smtClean="0"/>
              <a:t>6/7/2026</a:t>
            </a:fld>
            <a:endParaRPr lang="en-US"/>
          </a:p>
        </p:txBody>
      </p:sp>
      <p:sp>
        <p:nvSpPr>
          <p:cNvPr id="5" name="Footer Placeholder 4"/>
          <p:cNvSpPr>
            <a:spLocks noGrp="1"/>
          </p:cNvSpPr>
          <p:nvPr>
            <p:ph type="ftr" sz="quarter" idx="3"/>
          </p:nvPr>
        </p:nvSpPr>
        <p:spPr>
          <a:xfrm>
            <a:off x="2343150" y="9181395"/>
            <a:ext cx="2171700" cy="52740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9181395"/>
            <a:ext cx="1600200" cy="527403"/>
          </a:xfrm>
          <a:prstGeom prst="rect">
            <a:avLst/>
          </a:prstGeom>
        </p:spPr>
        <p:txBody>
          <a:bodyPr vert="horz" lIns="91440" tIns="45720" rIns="91440" bIns="45720" rtlCol="0" anchor="ctr"/>
          <a:lstStyle>
            <a:lvl1pPr algn="r">
              <a:defRPr sz="1200">
                <a:solidFill>
                  <a:schemeClr val="tx1">
                    <a:tint val="75000"/>
                  </a:schemeClr>
                </a:solidFill>
              </a:defRPr>
            </a:lvl1pPr>
          </a:lstStyle>
          <a:p>
            <a:fld id="{32EE80DE-62E3-8448-85E1-E211E189E1B5}" type="slidenum">
              <a:rPr lang="en-US" smtClean="0"/>
              <a:t>‹#›</a:t>
            </a:fld>
            <a:endParaRPr lang="en-US"/>
          </a:p>
        </p:txBody>
      </p:sp>
    </p:spTree>
    <p:extLst>
      <p:ext uri="{BB962C8B-B14F-4D97-AF65-F5344CB8AC3E}">
        <p14:creationId xmlns:p14="http://schemas.microsoft.com/office/powerpoint/2010/main" val="142133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hpsekuritas.id/insight" TargetMode="External"/><Relationship Id="rId5" Type="http://schemas.openxmlformats.org/officeDocument/2006/relationships/hyperlink" Target="https://growin.id/research" TargetMode="External"/><Relationship Id="rId4" Type="http://schemas.openxmlformats.org/officeDocument/2006/relationships/hyperlink" Target="https://idx.co.id/en/market-data/statistical-reports/statistics/" TargetMode="External"/></Relationships>
</file>

<file path=ppt/slides/_rels/slide2.xml.rels><?xml version="1.0" encoding="UTF-8" standalone="yes"?>
<Relationships xmlns="http://schemas.openxmlformats.org/package/2006/relationships"><Relationship Id="rId3" Type="http://schemas.microsoft.com/office/2018/10/relationships/comments" Target="../comments/modernComment_121_869C0C24.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cdn.msci.com/web/msci/index-tools/constituents"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ACE6F-5733-48BE-60C6-7BE684C3C697}"/>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7B35FAB3-C5A4-D2BD-24F2-36457B46B99C}"/>
              </a:ext>
            </a:extLst>
          </p:cNvPr>
          <p:cNvCxnSpPr>
            <a:cxnSpLocks/>
          </p:cNvCxnSpPr>
          <p:nvPr/>
        </p:nvCxnSpPr>
        <p:spPr>
          <a:xfrm>
            <a:off x="2307063" y="827977"/>
            <a:ext cx="0" cy="7798543"/>
          </a:xfrm>
          <a:prstGeom prst="line">
            <a:avLst/>
          </a:prstGeom>
          <a:ln w="3175" cmpd="sng">
            <a:solidFill>
              <a:schemeClr val="bg1">
                <a:lumMod val="50000"/>
              </a:schemeClr>
            </a:solidFill>
            <a:prstDash val="dot"/>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C44E890-A136-0FC2-25A2-694377CC2FAB}"/>
              </a:ext>
            </a:extLst>
          </p:cNvPr>
          <p:cNvSpPr txBox="1"/>
          <p:nvPr/>
        </p:nvSpPr>
        <p:spPr>
          <a:xfrm>
            <a:off x="2345666" y="803038"/>
            <a:ext cx="4330619" cy="215444"/>
          </a:xfrm>
          <a:prstGeom prst="rect">
            <a:avLst/>
          </a:prstGeom>
          <a:solidFill>
            <a:schemeClr val="bg2"/>
          </a:solidFill>
        </p:spPr>
        <p:txBody>
          <a:bodyPr wrap="square" rtlCol="0">
            <a:spAutoFit/>
          </a:bodyPr>
          <a:lstStyle/>
          <a:p>
            <a:r>
              <a:rPr lang="en-US" sz="800" b="1" dirty="0">
                <a:solidFill>
                  <a:schemeClr val="bg1"/>
                </a:solidFill>
                <a:latin typeface="Arial" panose="020B0604020202020204" pitchFamily="34" charset="0"/>
                <a:cs typeface="Arial" panose="020B0604020202020204" pitchFamily="34" charset="0"/>
              </a:rPr>
              <a:t>DAILY HIGHLIGHTS</a:t>
            </a:r>
          </a:p>
        </p:txBody>
      </p:sp>
      <p:cxnSp>
        <p:nvCxnSpPr>
          <p:cNvPr id="69" name="Straight Connector 68">
            <a:extLst>
              <a:ext uri="{FF2B5EF4-FFF2-40B4-BE49-F238E27FC236}">
                <a16:creationId xmlns:a16="http://schemas.microsoft.com/office/drawing/2014/main" id="{18DCE74E-959D-D052-EBBC-847E2D72AD3C}"/>
              </a:ext>
            </a:extLst>
          </p:cNvPr>
          <p:cNvCxnSpPr>
            <a:cxnSpLocks/>
          </p:cNvCxnSpPr>
          <p:nvPr/>
        </p:nvCxnSpPr>
        <p:spPr>
          <a:xfrm>
            <a:off x="10751495" y="4326197"/>
            <a:ext cx="0" cy="1028369"/>
          </a:xfrm>
          <a:prstGeom prst="line">
            <a:avLst/>
          </a:prstGeom>
          <a:ln w="3175" cmpd="sng">
            <a:solidFill>
              <a:schemeClr val="bg1">
                <a:lumMod val="50000"/>
              </a:schemeClr>
            </a:solidFill>
            <a:prstDash val="dot"/>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C2F229B7-6CA2-F58B-9579-596AE7BAB9DF}"/>
              </a:ext>
            </a:extLst>
          </p:cNvPr>
          <p:cNvGrpSpPr/>
          <p:nvPr/>
        </p:nvGrpSpPr>
        <p:grpSpPr>
          <a:xfrm>
            <a:off x="162627" y="159304"/>
            <a:ext cx="6513662" cy="596172"/>
            <a:chOff x="224720" y="135698"/>
            <a:chExt cx="6385174" cy="596172"/>
          </a:xfrm>
        </p:grpSpPr>
        <p:cxnSp>
          <p:nvCxnSpPr>
            <p:cNvPr id="35" name="Straight Connector 34">
              <a:extLst>
                <a:ext uri="{FF2B5EF4-FFF2-40B4-BE49-F238E27FC236}">
                  <a16:creationId xmlns:a16="http://schemas.microsoft.com/office/drawing/2014/main" id="{AC71FC44-B92E-8A2D-C38A-B1997D17A44D}"/>
                </a:ext>
              </a:extLst>
            </p:cNvPr>
            <p:cNvCxnSpPr>
              <a:cxnSpLocks/>
            </p:cNvCxnSpPr>
            <p:nvPr/>
          </p:nvCxnSpPr>
          <p:spPr>
            <a:xfrm>
              <a:off x="225613" y="731870"/>
              <a:ext cx="6384281"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8CC0C70F-E12A-FC05-E1B7-27C4A9E70D3F}"/>
                </a:ext>
              </a:extLst>
            </p:cNvPr>
            <p:cNvSpPr txBox="1"/>
            <p:nvPr/>
          </p:nvSpPr>
          <p:spPr>
            <a:xfrm>
              <a:off x="224720" y="135698"/>
              <a:ext cx="6380931" cy="539700"/>
            </a:xfrm>
            <a:prstGeom prst="rect">
              <a:avLst/>
            </a:prstGeom>
            <a:solidFill>
              <a:schemeClr val="bg2">
                <a:lumMod val="20000"/>
                <a:lumOff val="80000"/>
              </a:schemeClr>
            </a:solidFill>
          </p:spPr>
          <p:txBody>
            <a:bodyPr wrap="square" rtlCol="0">
              <a:spAutoFit/>
            </a:bodyPr>
            <a:lstStyle/>
            <a:p>
              <a:pPr>
                <a:lnSpc>
                  <a:spcPct val="150000"/>
                </a:lnSpc>
              </a:pPr>
              <a:endParaRPr lang="en-US" sz="500" dirty="0">
                <a:solidFill>
                  <a:srgbClr val="000000"/>
                </a:solidFill>
                <a:latin typeface="Arial" panose="020B0604020202020204" pitchFamily="34" charset="0"/>
                <a:cs typeface="Arial" panose="020B0604020202020204" pitchFamily="34" charset="0"/>
              </a:endParaRPr>
            </a:p>
            <a:p>
              <a:pPr>
                <a:lnSpc>
                  <a:spcPct val="150000"/>
                </a:lnSpc>
              </a:pPr>
              <a:r>
                <a:rPr lang="en-US" sz="1000" b="1" dirty="0">
                  <a:solidFill>
                    <a:srgbClr val="000000"/>
                  </a:solidFill>
                  <a:latin typeface="Arial" panose="020B0604020202020204" pitchFamily="34" charset="0"/>
                  <a:cs typeface="Arial" panose="020B0604020202020204" pitchFamily="34" charset="0"/>
                </a:rPr>
                <a:t>{{DATE_DISPLAY}} </a:t>
              </a:r>
              <a:r>
                <a:rPr lang="en-US" sz="1000" dirty="0">
                  <a:solidFill>
                    <a:srgbClr val="000000"/>
                  </a:solidFill>
                  <a:latin typeface="Arial" panose="020B0604020202020204" pitchFamily="34" charset="0"/>
                  <a:cs typeface="Arial" panose="020B0604020202020204" pitchFamily="34" charset="0"/>
                </a:rPr>
                <a:t>| </a:t>
              </a:r>
              <a:r>
                <a:rPr lang="en-US" sz="1000" b="1" dirty="0">
                  <a:solidFill>
                    <a:srgbClr val="000000"/>
                  </a:solidFill>
                  <a:latin typeface="Arial" panose="020B0604020202020204" pitchFamily="34" charset="0"/>
                  <a:cs typeface="Arial" panose="020B0604020202020204" pitchFamily="34" charset="0"/>
                </a:rPr>
                <a:t>DAILY MARKET UPDATE </a:t>
              </a:r>
              <a:r>
                <a:rPr lang="en-US" sz="1000" dirty="0">
                  <a:solidFill>
                    <a:srgbClr val="000000"/>
                  </a:solidFill>
                  <a:latin typeface="Arial" panose="020B0604020202020204" pitchFamily="34" charset="0"/>
                  <a:cs typeface="Arial" panose="020B0604020202020204" pitchFamily="34" charset="0"/>
                </a:rPr>
                <a:t>| </a:t>
              </a:r>
              <a:r>
                <a:rPr lang="en-US" sz="1000" b="1" dirty="0">
                  <a:solidFill>
                    <a:srgbClr val="000000"/>
                  </a:solidFill>
                  <a:latin typeface="Arial" panose="020B0604020202020204" pitchFamily="34" charset="0"/>
                  <a:cs typeface="Arial" panose="020B0604020202020204" pitchFamily="34" charset="0"/>
                </a:rPr>
                <a:t>Golden Crest Fund</a:t>
              </a:r>
            </a:p>
            <a:p>
              <a:pPr>
                <a:lnSpc>
                  <a:spcPct val="150000"/>
                </a:lnSpc>
              </a:pPr>
              <a:endParaRPr lang="en-US" sz="500" b="1" dirty="0">
                <a:solidFill>
                  <a:srgbClr val="000000"/>
                </a:solidFill>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493CD6DC-3F01-4B63-857A-B91F58B5FA45}"/>
                </a:ext>
              </a:extLst>
            </p:cNvPr>
            <p:cNvPicPr>
              <a:picLocks noChangeAspect="1"/>
            </p:cNvPicPr>
            <p:nvPr/>
          </p:nvPicPr>
          <p:blipFill>
            <a:blip r:embed="rId3"/>
            <a:stretch>
              <a:fillRect/>
            </a:stretch>
          </p:blipFill>
          <p:spPr>
            <a:xfrm>
              <a:off x="4951161" y="169208"/>
              <a:ext cx="1641394" cy="468970"/>
            </a:xfrm>
            <a:prstGeom prst="rect">
              <a:avLst/>
            </a:prstGeom>
          </p:spPr>
        </p:pic>
      </p:grpSp>
      <p:grpSp>
        <p:nvGrpSpPr>
          <p:cNvPr id="40" name="Group 39">
            <a:extLst>
              <a:ext uri="{FF2B5EF4-FFF2-40B4-BE49-F238E27FC236}">
                <a16:creationId xmlns:a16="http://schemas.microsoft.com/office/drawing/2014/main" id="{85F11FA7-0DFD-4096-5177-0D4E4BC380F6}"/>
              </a:ext>
            </a:extLst>
          </p:cNvPr>
          <p:cNvGrpSpPr/>
          <p:nvPr/>
        </p:nvGrpSpPr>
        <p:grpSpPr>
          <a:xfrm>
            <a:off x="150178" y="8696321"/>
            <a:ext cx="6508424" cy="1102962"/>
            <a:chOff x="231659" y="8700380"/>
            <a:chExt cx="6389165" cy="1102962"/>
          </a:xfrm>
        </p:grpSpPr>
        <p:sp>
          <p:nvSpPr>
            <p:cNvPr id="67" name="Rectangle 66">
              <a:extLst>
                <a:ext uri="{FF2B5EF4-FFF2-40B4-BE49-F238E27FC236}">
                  <a16:creationId xmlns:a16="http://schemas.microsoft.com/office/drawing/2014/main" id="{84A46E80-898A-268A-DD16-529C4A64F365}"/>
                </a:ext>
              </a:extLst>
            </p:cNvPr>
            <p:cNvSpPr/>
            <p:nvPr/>
          </p:nvSpPr>
          <p:spPr>
            <a:xfrm>
              <a:off x="231659" y="8880012"/>
              <a:ext cx="6389165" cy="923330"/>
            </a:xfrm>
            <a:prstGeom prst="rect">
              <a:avLst/>
            </a:prstGeom>
          </p:spPr>
          <p:txBody>
            <a:bodyPr wrap="square">
              <a:spAutoFit/>
            </a:bodyPr>
            <a:lstStyle/>
            <a:p>
              <a:pPr algn="just"/>
              <a:r>
                <a:rPr lang="en-ID" sz="600" b="1" dirty="0">
                  <a:solidFill>
                    <a:srgbClr val="000000"/>
                  </a:solidFill>
                  <a:effectLst/>
                  <a:latin typeface="Arial" panose="020B0604020202020204" pitchFamily="34" charset="0"/>
                </a:rPr>
                <a:t>DISCLAIMER</a:t>
              </a:r>
              <a:r>
                <a:rPr lang="en-ID" sz="600" dirty="0">
                  <a:solidFill>
                    <a:srgbClr val="000000"/>
                  </a:solidFill>
                  <a:effectLst/>
                  <a:latin typeface="Arial" panose="020B0604020202020204" pitchFamily="34" charset="0"/>
                </a:rPr>
                <a:t>: The information contained herein is for informational purposes only and is subject to risks. The information should not be construed as any form of advice relating to tax, legal, financial, business or any matter and all persons should seek to obtain independent advice for the same. </a:t>
              </a:r>
            </a:p>
            <a:p>
              <a:pPr algn="just"/>
              <a:endParaRPr lang="en-ID" sz="600" dirty="0">
                <a:solidFill>
                  <a:srgbClr val="000000"/>
                </a:solidFill>
                <a:effectLst/>
                <a:latin typeface="Arial" panose="020B0604020202020204" pitchFamily="34" charset="0"/>
              </a:endParaRPr>
            </a:p>
            <a:p>
              <a:pPr algn="just"/>
              <a:r>
                <a:rPr lang="en-ID" sz="600" dirty="0">
                  <a:solidFill>
                    <a:srgbClr val="000000"/>
                  </a:solidFill>
                  <a:effectLst/>
                  <a:latin typeface="Arial" panose="020B0604020202020204" pitchFamily="34" charset="0"/>
                </a:rPr>
                <a:t>The information should not be construed as an offer to sell or purchase securities. Any such transaction shall be subject to a contractual understanding, necessary documentation, applicable laws, approvals and regulations. The information is provided on ‘as is/where is’ basis and North AMG Pte Ltd and/or its affiliates accept no liability or responsibility whatsoever for any direct or consequential loss and/or damages arising in relation to any use of opinions, forecast, materials and data contained herein or otherwise arising in connection therewith.</a:t>
              </a:r>
            </a:p>
            <a:p>
              <a:pPr algn="just"/>
              <a:endParaRPr lang="en-ID" sz="600" dirty="0">
                <a:solidFill>
                  <a:srgbClr val="000000"/>
                </a:solidFill>
                <a:effectLst/>
                <a:latin typeface="Arial" panose="020B0604020202020204" pitchFamily="34" charset="0"/>
              </a:endParaRPr>
            </a:p>
            <a:p>
              <a:pPr algn="just"/>
              <a:r>
                <a:rPr lang="en-ID" sz="600" dirty="0">
                  <a:solidFill>
                    <a:srgbClr val="000000"/>
                  </a:solidFill>
                  <a:effectLst/>
                  <a:latin typeface="Arial" panose="020B0604020202020204" pitchFamily="34" charset="0"/>
                </a:rPr>
                <a:t>Before committing to an investment, please seek advice from a financial or other professional adviser regarding the suitability of the product and read the relevant product offer documents including the risk disclosures. If Investors do not wish to seek financial advice, please consider carefully whether the product is suitable for you.</a:t>
              </a:r>
            </a:p>
          </p:txBody>
        </p:sp>
        <p:cxnSp>
          <p:nvCxnSpPr>
            <p:cNvPr id="3" name="Straight Connector 2">
              <a:extLst>
                <a:ext uri="{FF2B5EF4-FFF2-40B4-BE49-F238E27FC236}">
                  <a16:creationId xmlns:a16="http://schemas.microsoft.com/office/drawing/2014/main" id="{050ACE92-E443-ABF3-CC28-C8EE19567D79}"/>
                </a:ext>
              </a:extLst>
            </p:cNvPr>
            <p:cNvCxnSpPr>
              <a:cxnSpLocks/>
            </p:cNvCxnSpPr>
            <p:nvPr/>
          </p:nvCxnSpPr>
          <p:spPr>
            <a:xfrm flipH="1">
              <a:off x="231659" y="8869415"/>
              <a:ext cx="6389164" cy="0"/>
            </a:xfrm>
            <a:prstGeom prst="line">
              <a:avLst/>
            </a:prstGeom>
            <a:ln w="3175" cmpd="sng">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A060C12-2C46-50A1-7480-96FF0534265C}"/>
                </a:ext>
              </a:extLst>
            </p:cNvPr>
            <p:cNvSpPr txBox="1"/>
            <p:nvPr/>
          </p:nvSpPr>
          <p:spPr>
            <a:xfrm>
              <a:off x="238071" y="8700380"/>
              <a:ext cx="5336259" cy="184666"/>
            </a:xfrm>
            <a:prstGeom prst="rect">
              <a:avLst/>
            </a:prstGeom>
            <a:noFill/>
          </p:spPr>
          <p:txBody>
            <a:bodyPr wrap="square">
              <a:spAutoFit/>
            </a:bodyPr>
            <a:lstStyle/>
            <a:p>
              <a:r>
                <a:rPr lang="en-US" sz="600" i="1" dirty="0">
                  <a:solidFill>
                    <a:srgbClr val="000000"/>
                  </a:solidFill>
                  <a:latin typeface="Arial" panose="020B0604020202020204" pitchFamily="34" charset="0"/>
                  <a:cs typeface="Arial" panose="020B0604020202020204" pitchFamily="34" charset="0"/>
                </a:rPr>
                <a:t>Sources: Bloomberg, Research Reports, Media Coverage</a:t>
              </a:r>
              <a:endParaRPr lang="en-US" sz="600" dirty="0"/>
            </a:p>
          </p:txBody>
        </p:sp>
      </p:grpSp>
      <p:sp>
        <p:nvSpPr>
          <p:cNvPr id="77" name="TextBox 76">
            <a:extLst>
              <a:ext uri="{FF2B5EF4-FFF2-40B4-BE49-F238E27FC236}">
                <a16:creationId xmlns:a16="http://schemas.microsoft.com/office/drawing/2014/main" id="{54AB83E6-EEEC-487D-9DD4-C44737F6D832}"/>
              </a:ext>
            </a:extLst>
          </p:cNvPr>
          <p:cNvSpPr txBox="1"/>
          <p:nvPr/>
        </p:nvSpPr>
        <p:spPr>
          <a:xfrm>
            <a:off x="-2164540" y="237369"/>
            <a:ext cx="2095476" cy="830997"/>
          </a:xfrm>
          <a:prstGeom prst="rect">
            <a:avLst/>
          </a:prstGeom>
          <a:solidFill>
            <a:srgbClr val="000000"/>
          </a:solidFill>
        </p:spPr>
        <p:txBody>
          <a:bodyPr wrap="square" rtlCol="0">
            <a:spAutoFit/>
          </a:bodyPr>
          <a:lstStyle/>
          <a:p>
            <a:pPr algn="r"/>
            <a:r>
              <a:rPr lang="en-US" sz="800" dirty="0">
                <a:solidFill>
                  <a:schemeClr val="bg1"/>
                </a:solidFill>
              </a:rPr>
              <a:t>For Calculation purposes, especially YTD %.</a:t>
            </a:r>
          </a:p>
          <a:p>
            <a:pPr algn="r"/>
            <a:r>
              <a:rPr lang="en-US" sz="800" dirty="0">
                <a:solidFill>
                  <a:schemeClr val="bg1"/>
                </a:solidFill>
              </a:rPr>
              <a:t>JCI Previous day:</a:t>
            </a:r>
          </a:p>
          <a:p>
            <a:pPr algn="r"/>
            <a:r>
              <a:rPr lang="en-US" sz="800" dirty="0" err="1">
                <a:solidFill>
                  <a:schemeClr val="bg1"/>
                </a:solidFill>
              </a:rPr>
              <a:t>xxxx</a:t>
            </a:r>
            <a:endParaRPr lang="en-US" sz="800" dirty="0">
              <a:solidFill>
                <a:schemeClr val="bg1"/>
              </a:solidFill>
            </a:endParaRPr>
          </a:p>
          <a:p>
            <a:pPr algn="r"/>
            <a:endParaRPr lang="en-US" sz="800" dirty="0">
              <a:solidFill>
                <a:schemeClr val="bg1"/>
              </a:solidFill>
            </a:endParaRPr>
          </a:p>
          <a:p>
            <a:pPr algn="r"/>
            <a:r>
              <a:rPr lang="en-US" sz="800" dirty="0">
                <a:solidFill>
                  <a:schemeClr val="bg1"/>
                </a:solidFill>
              </a:rPr>
              <a:t>JCI 30 Dec 2025:</a:t>
            </a:r>
          </a:p>
          <a:p>
            <a:pPr algn="r"/>
            <a:r>
              <a:rPr lang="en-US" sz="800" dirty="0">
                <a:solidFill>
                  <a:schemeClr val="bg1"/>
                </a:solidFill>
              </a:rPr>
              <a:t>8,646.94</a:t>
            </a:r>
          </a:p>
        </p:txBody>
      </p:sp>
      <p:sp>
        <p:nvSpPr>
          <p:cNvPr id="87" name="TextBox 86">
            <a:extLst>
              <a:ext uri="{FF2B5EF4-FFF2-40B4-BE49-F238E27FC236}">
                <a16:creationId xmlns:a16="http://schemas.microsoft.com/office/drawing/2014/main" id="{D7C9EA79-F6A8-A835-C6E6-9D3E58C4514A}"/>
              </a:ext>
            </a:extLst>
          </p:cNvPr>
          <p:cNvSpPr txBox="1"/>
          <p:nvPr/>
        </p:nvSpPr>
        <p:spPr>
          <a:xfrm>
            <a:off x="-2194180" y="1685397"/>
            <a:ext cx="2101658" cy="1200329"/>
          </a:xfrm>
          <a:prstGeom prst="rect">
            <a:avLst/>
          </a:prstGeom>
          <a:solidFill>
            <a:srgbClr val="000000"/>
          </a:solidFill>
        </p:spPr>
        <p:txBody>
          <a:bodyPr wrap="square" rtlCol="0">
            <a:spAutoFit/>
          </a:bodyPr>
          <a:lstStyle/>
          <a:p>
            <a:r>
              <a:rPr lang="en-US" sz="800" dirty="0">
                <a:solidFill>
                  <a:schemeClr val="bg1"/>
                </a:solidFill>
              </a:rPr>
              <a:t>Key JCI data and Indonesia Indices data taken from </a:t>
            </a:r>
            <a:r>
              <a:rPr lang="en-US" sz="800" dirty="0" err="1">
                <a:solidFill>
                  <a:schemeClr val="bg1"/>
                </a:solidFill>
              </a:rPr>
              <a:t>Stockbit</a:t>
            </a:r>
            <a:r>
              <a:rPr lang="en-US" sz="800" dirty="0">
                <a:solidFill>
                  <a:schemeClr val="bg1"/>
                </a:solidFill>
              </a:rPr>
              <a:t> </a:t>
            </a:r>
            <a:r>
              <a:rPr lang="en-US" sz="800" dirty="0" err="1">
                <a:solidFill>
                  <a:schemeClr val="bg1"/>
                </a:solidFill>
              </a:rPr>
              <a:t>Sekuritas</a:t>
            </a:r>
            <a:r>
              <a:rPr lang="en-US" sz="800" dirty="0">
                <a:solidFill>
                  <a:schemeClr val="bg1"/>
                </a:solidFill>
              </a:rPr>
              <a:t> Apps. </a:t>
            </a:r>
          </a:p>
          <a:p>
            <a:r>
              <a:rPr lang="en-US" sz="800" dirty="0">
                <a:solidFill>
                  <a:schemeClr val="bg1"/>
                </a:solidFill>
              </a:rPr>
              <a:t>Can start to collect data from ~ 16 WIB after market close (Usually Trans Value + Net Foreign ~ 17/18 WIB</a:t>
            </a:r>
          </a:p>
          <a:p>
            <a:endParaRPr lang="en-US" sz="800" dirty="0">
              <a:solidFill>
                <a:schemeClr val="bg1"/>
              </a:solidFill>
            </a:endParaRPr>
          </a:p>
          <a:p>
            <a:r>
              <a:rPr lang="en-US" sz="800" dirty="0">
                <a:solidFill>
                  <a:schemeClr val="bg1"/>
                </a:solidFill>
              </a:rPr>
              <a:t>Market P/E data obtained from IDX Daily Statistics: </a:t>
            </a:r>
            <a:r>
              <a:rPr lang="en-US" sz="800" dirty="0">
                <a:solidFill>
                  <a:schemeClr val="bg1"/>
                </a:solidFill>
                <a:hlinkClick r:id="rId4"/>
              </a:rPr>
              <a:t>https://idx.co.id/en/market-data/statistical-reports/statistics/</a:t>
            </a:r>
            <a:endParaRPr lang="en-US" sz="800" dirty="0">
              <a:solidFill>
                <a:schemeClr val="bg1"/>
              </a:solidFill>
            </a:endParaRPr>
          </a:p>
        </p:txBody>
      </p:sp>
      <p:sp>
        <p:nvSpPr>
          <p:cNvPr id="88" name="TextBox 87">
            <a:extLst>
              <a:ext uri="{FF2B5EF4-FFF2-40B4-BE49-F238E27FC236}">
                <a16:creationId xmlns:a16="http://schemas.microsoft.com/office/drawing/2014/main" id="{744D20F5-C41B-F012-FF6F-6D2B28419E3D}"/>
              </a:ext>
            </a:extLst>
          </p:cNvPr>
          <p:cNvSpPr txBox="1"/>
          <p:nvPr/>
        </p:nvSpPr>
        <p:spPr>
          <a:xfrm>
            <a:off x="-2264553" y="7831336"/>
            <a:ext cx="2195489" cy="584775"/>
          </a:xfrm>
          <a:prstGeom prst="rect">
            <a:avLst/>
          </a:prstGeom>
          <a:noFill/>
        </p:spPr>
        <p:txBody>
          <a:bodyPr wrap="square" rtlCol="0">
            <a:spAutoFit/>
          </a:bodyPr>
          <a:lstStyle/>
          <a:p>
            <a:r>
              <a:rPr lang="en-US" sz="800" dirty="0">
                <a:solidFill>
                  <a:schemeClr val="bg1"/>
                </a:solidFill>
              </a:rPr>
              <a:t>JCI Sector Indices taken from </a:t>
            </a:r>
            <a:r>
              <a:rPr lang="en-US" sz="800" dirty="0" err="1">
                <a:solidFill>
                  <a:schemeClr val="bg1"/>
                </a:solidFill>
              </a:rPr>
              <a:t>Stockbit</a:t>
            </a:r>
            <a:r>
              <a:rPr lang="en-US" sz="800" dirty="0">
                <a:solidFill>
                  <a:schemeClr val="bg1"/>
                </a:solidFill>
              </a:rPr>
              <a:t> </a:t>
            </a:r>
            <a:r>
              <a:rPr lang="en-US" sz="800" dirty="0" err="1">
                <a:solidFill>
                  <a:schemeClr val="bg1"/>
                </a:solidFill>
              </a:rPr>
              <a:t>Sekuritas</a:t>
            </a:r>
            <a:r>
              <a:rPr lang="en-US" sz="800" dirty="0">
                <a:solidFill>
                  <a:schemeClr val="bg1"/>
                </a:solidFill>
              </a:rPr>
              <a:t> Apps. </a:t>
            </a:r>
          </a:p>
          <a:p>
            <a:r>
              <a:rPr lang="en-US" sz="800" dirty="0">
                <a:solidFill>
                  <a:schemeClr val="bg1"/>
                </a:solidFill>
              </a:rPr>
              <a:t>Can start to collect data from 16 WIB after market close</a:t>
            </a:r>
          </a:p>
        </p:txBody>
      </p:sp>
      <p:sp>
        <p:nvSpPr>
          <p:cNvPr id="89" name="TextBox 88">
            <a:extLst>
              <a:ext uri="{FF2B5EF4-FFF2-40B4-BE49-F238E27FC236}">
                <a16:creationId xmlns:a16="http://schemas.microsoft.com/office/drawing/2014/main" id="{1A92D1E2-F806-D71E-C60C-28D9BB917171}"/>
              </a:ext>
            </a:extLst>
          </p:cNvPr>
          <p:cNvSpPr txBox="1"/>
          <p:nvPr/>
        </p:nvSpPr>
        <p:spPr>
          <a:xfrm>
            <a:off x="7016712" y="765759"/>
            <a:ext cx="2101658" cy="461665"/>
          </a:xfrm>
          <a:prstGeom prst="rect">
            <a:avLst/>
          </a:prstGeom>
          <a:solidFill>
            <a:srgbClr val="000000"/>
          </a:solidFill>
        </p:spPr>
        <p:txBody>
          <a:bodyPr wrap="square" rtlCol="0">
            <a:spAutoFit/>
          </a:bodyPr>
          <a:lstStyle/>
          <a:p>
            <a:r>
              <a:rPr lang="en-US" sz="800" dirty="0">
                <a:solidFill>
                  <a:schemeClr val="bg1"/>
                </a:solidFill>
              </a:rPr>
              <a:t>Daily Highlights is mandatory section. Give brief points yet detailed in number (like </a:t>
            </a:r>
            <a:r>
              <a:rPr lang="en-US" sz="800" dirty="0" err="1">
                <a:solidFill>
                  <a:schemeClr val="bg1"/>
                </a:solidFill>
              </a:rPr>
              <a:t>Trimegah’s</a:t>
            </a:r>
            <a:r>
              <a:rPr lang="en-US" sz="800" dirty="0">
                <a:solidFill>
                  <a:schemeClr val="bg1"/>
                </a:solidFill>
              </a:rPr>
              <a:t> daily updates)</a:t>
            </a:r>
          </a:p>
        </p:txBody>
      </p:sp>
      <p:sp>
        <p:nvSpPr>
          <p:cNvPr id="90" name="TextBox 89">
            <a:extLst>
              <a:ext uri="{FF2B5EF4-FFF2-40B4-BE49-F238E27FC236}">
                <a16:creationId xmlns:a16="http://schemas.microsoft.com/office/drawing/2014/main" id="{02A4A9FD-7A75-02A9-C37E-5944575A8C02}"/>
              </a:ext>
            </a:extLst>
          </p:cNvPr>
          <p:cNvSpPr txBox="1"/>
          <p:nvPr/>
        </p:nvSpPr>
        <p:spPr>
          <a:xfrm>
            <a:off x="7016712" y="1362334"/>
            <a:ext cx="2101658" cy="1446550"/>
          </a:xfrm>
          <a:prstGeom prst="rect">
            <a:avLst/>
          </a:prstGeom>
          <a:solidFill>
            <a:srgbClr val="000000"/>
          </a:solidFill>
        </p:spPr>
        <p:txBody>
          <a:bodyPr wrap="square" rtlCol="0">
            <a:spAutoFit/>
          </a:bodyPr>
          <a:lstStyle/>
          <a:p>
            <a:r>
              <a:rPr lang="en-US" sz="800" dirty="0">
                <a:solidFill>
                  <a:schemeClr val="bg1"/>
                </a:solidFill>
              </a:rPr>
              <a:t>Give explanatory title in the “Headline 1” etc.</a:t>
            </a:r>
            <a:br>
              <a:rPr lang="en-US" sz="800" dirty="0">
                <a:solidFill>
                  <a:schemeClr val="bg1"/>
                </a:solidFill>
              </a:rPr>
            </a:br>
            <a:r>
              <a:rPr lang="en-US" sz="800" dirty="0">
                <a:solidFill>
                  <a:schemeClr val="bg1"/>
                </a:solidFill>
              </a:rPr>
              <a:t>Example: “BI cut rates by 25 bps into xx%....” instead of “BI Cut rates”</a:t>
            </a:r>
          </a:p>
          <a:p>
            <a:endParaRPr lang="en-US" sz="800" dirty="0">
              <a:solidFill>
                <a:schemeClr val="bg1"/>
              </a:solidFill>
            </a:endParaRPr>
          </a:p>
          <a:p>
            <a:r>
              <a:rPr lang="en-US" sz="800" dirty="0">
                <a:solidFill>
                  <a:schemeClr val="bg1"/>
                </a:solidFill>
              </a:rPr>
              <a:t>Explore freely to produce relevant info/news </a:t>
            </a:r>
            <a:r>
              <a:rPr lang="en-US" sz="800" dirty="0" err="1">
                <a:solidFill>
                  <a:schemeClr val="bg1"/>
                </a:solidFill>
              </a:rPr>
              <a:t>fro</a:t>
            </a:r>
            <a:r>
              <a:rPr lang="en-US" sz="800" dirty="0">
                <a:solidFill>
                  <a:schemeClr val="bg1"/>
                </a:solidFill>
              </a:rPr>
              <a:t> the rest of the section. Can be 1-3 headlines with detailed explanation ( 2 paragraphs or more), or 3-5 headlines with more summarized explanation.</a:t>
            </a:r>
            <a:br>
              <a:rPr lang="en-US" sz="800" dirty="0">
                <a:solidFill>
                  <a:schemeClr val="bg1"/>
                </a:solidFill>
              </a:rPr>
            </a:br>
            <a:r>
              <a:rPr lang="en-US" sz="800" dirty="0">
                <a:solidFill>
                  <a:schemeClr val="bg1"/>
                </a:solidFill>
              </a:rPr>
              <a:t>Curate accordingly with latest important market update.</a:t>
            </a:r>
          </a:p>
        </p:txBody>
      </p:sp>
      <p:sp>
        <p:nvSpPr>
          <p:cNvPr id="91" name="TextBox 90">
            <a:extLst>
              <a:ext uri="{FF2B5EF4-FFF2-40B4-BE49-F238E27FC236}">
                <a16:creationId xmlns:a16="http://schemas.microsoft.com/office/drawing/2014/main" id="{9BFCC176-5ED8-DE80-0594-957DCD738808}"/>
              </a:ext>
            </a:extLst>
          </p:cNvPr>
          <p:cNvSpPr txBox="1"/>
          <p:nvPr/>
        </p:nvSpPr>
        <p:spPr>
          <a:xfrm>
            <a:off x="7016712" y="2856569"/>
            <a:ext cx="3463718" cy="1323439"/>
          </a:xfrm>
          <a:prstGeom prst="rect">
            <a:avLst/>
          </a:prstGeom>
          <a:solidFill>
            <a:srgbClr val="000000"/>
          </a:solidFill>
        </p:spPr>
        <p:txBody>
          <a:bodyPr wrap="square" rtlCol="0">
            <a:spAutoFit/>
          </a:bodyPr>
          <a:lstStyle/>
          <a:p>
            <a:r>
              <a:rPr lang="en-US" sz="1000" b="1" dirty="0">
                <a:solidFill>
                  <a:schemeClr val="bg1"/>
                </a:solidFill>
              </a:rPr>
              <a:t>Writing formats:</a:t>
            </a:r>
            <a:br>
              <a:rPr lang="en-US" sz="1000" b="1" dirty="0">
                <a:solidFill>
                  <a:schemeClr val="bg1"/>
                </a:solidFill>
              </a:rPr>
            </a:br>
            <a:r>
              <a:rPr lang="en-US" sz="1000" b="1" dirty="0">
                <a:solidFill>
                  <a:schemeClr val="bg1"/>
                </a:solidFill>
              </a:rPr>
              <a:t>- Use </a:t>
            </a:r>
            <a:r>
              <a:rPr lang="en-US" sz="1000" b="1" dirty="0" err="1">
                <a:solidFill>
                  <a:schemeClr val="bg1"/>
                </a:solidFill>
              </a:rPr>
              <a:t>mn</a:t>
            </a:r>
            <a:r>
              <a:rPr lang="en-US" sz="1000" b="1" dirty="0">
                <a:solidFill>
                  <a:schemeClr val="bg1"/>
                </a:solidFill>
              </a:rPr>
              <a:t>, bn, </a:t>
            </a:r>
            <a:r>
              <a:rPr lang="en-US" sz="1000" b="1" dirty="0" err="1">
                <a:solidFill>
                  <a:schemeClr val="bg1"/>
                </a:solidFill>
              </a:rPr>
              <a:t>tn</a:t>
            </a:r>
            <a:r>
              <a:rPr lang="en-US" sz="1000" b="1" dirty="0">
                <a:solidFill>
                  <a:schemeClr val="bg1"/>
                </a:solidFill>
              </a:rPr>
              <a:t> for UOM (unit of measure)</a:t>
            </a:r>
            <a:br>
              <a:rPr lang="en-US" sz="1000" b="1" dirty="0">
                <a:solidFill>
                  <a:schemeClr val="bg1"/>
                </a:solidFill>
              </a:rPr>
            </a:br>
            <a:r>
              <a:rPr lang="en-US" sz="1000" b="1" dirty="0">
                <a:solidFill>
                  <a:schemeClr val="bg1"/>
                </a:solidFill>
              </a:rPr>
              <a:t>- Use international 3-letter format for currency</a:t>
            </a:r>
          </a:p>
          <a:p>
            <a:r>
              <a:rPr lang="en-US" sz="1000" b="1" dirty="0">
                <a:solidFill>
                  <a:schemeClr val="bg1"/>
                </a:solidFill>
              </a:rPr>
              <a:t>- Currency should be written, in example: IDR1.2tn</a:t>
            </a:r>
          </a:p>
          <a:p>
            <a:r>
              <a:rPr lang="en-US" sz="1000" b="1" dirty="0">
                <a:solidFill>
                  <a:schemeClr val="bg1"/>
                </a:solidFill>
              </a:rPr>
              <a:t>- Use . for decimal and , for thousands</a:t>
            </a:r>
          </a:p>
          <a:p>
            <a:r>
              <a:rPr lang="en-US" sz="1000" b="1" dirty="0">
                <a:solidFill>
                  <a:schemeClr val="bg1"/>
                </a:solidFill>
              </a:rPr>
              <a:t>- Always use 1 decimal places for all numbers, EXCEPT: 1) interest rates and yields % (2 decimals), 2) Share price  (depending on local format)</a:t>
            </a:r>
          </a:p>
        </p:txBody>
      </p:sp>
      <p:sp>
        <p:nvSpPr>
          <p:cNvPr id="92" name="TextBox 91">
            <a:extLst>
              <a:ext uri="{FF2B5EF4-FFF2-40B4-BE49-F238E27FC236}">
                <a16:creationId xmlns:a16="http://schemas.microsoft.com/office/drawing/2014/main" id="{048A2CD6-17EE-5516-C564-85658B9A6412}"/>
              </a:ext>
            </a:extLst>
          </p:cNvPr>
          <p:cNvSpPr txBox="1"/>
          <p:nvPr/>
        </p:nvSpPr>
        <p:spPr>
          <a:xfrm>
            <a:off x="-2217638" y="3035545"/>
            <a:ext cx="2148574" cy="215444"/>
          </a:xfrm>
          <a:prstGeom prst="rect">
            <a:avLst/>
          </a:prstGeom>
          <a:solidFill>
            <a:srgbClr val="000000"/>
          </a:solidFill>
        </p:spPr>
        <p:txBody>
          <a:bodyPr wrap="square" rtlCol="0">
            <a:spAutoFit/>
          </a:bodyPr>
          <a:lstStyle/>
          <a:p>
            <a:r>
              <a:rPr lang="en-US" sz="800" dirty="0">
                <a:solidFill>
                  <a:schemeClr val="bg1"/>
                </a:solidFill>
              </a:rPr>
              <a:t>Index data taken from </a:t>
            </a:r>
            <a:r>
              <a:rPr lang="en-US" sz="800" dirty="0" err="1">
                <a:solidFill>
                  <a:schemeClr val="bg1"/>
                </a:solidFill>
              </a:rPr>
              <a:t>Mansek</a:t>
            </a:r>
            <a:r>
              <a:rPr lang="en-US" sz="800" dirty="0">
                <a:solidFill>
                  <a:schemeClr val="bg1"/>
                </a:solidFill>
              </a:rPr>
              <a:t> Daily Report</a:t>
            </a:r>
          </a:p>
        </p:txBody>
      </p:sp>
      <p:sp>
        <p:nvSpPr>
          <p:cNvPr id="97" name="TextBox 96">
            <a:extLst>
              <a:ext uri="{FF2B5EF4-FFF2-40B4-BE49-F238E27FC236}">
                <a16:creationId xmlns:a16="http://schemas.microsoft.com/office/drawing/2014/main" id="{DB45D67A-8C72-3E07-A9E1-594608CCAE48}"/>
              </a:ext>
            </a:extLst>
          </p:cNvPr>
          <p:cNvSpPr txBox="1"/>
          <p:nvPr/>
        </p:nvSpPr>
        <p:spPr>
          <a:xfrm>
            <a:off x="-2217638" y="4690840"/>
            <a:ext cx="2148574" cy="1077218"/>
          </a:xfrm>
          <a:prstGeom prst="rect">
            <a:avLst/>
          </a:prstGeom>
          <a:solidFill>
            <a:srgbClr val="000000"/>
          </a:solidFill>
        </p:spPr>
        <p:txBody>
          <a:bodyPr wrap="square" rtlCol="0">
            <a:spAutoFit/>
          </a:bodyPr>
          <a:lstStyle/>
          <a:p>
            <a:r>
              <a:rPr lang="en-US" sz="800" dirty="0">
                <a:solidFill>
                  <a:schemeClr val="bg1"/>
                </a:solidFill>
              </a:rPr>
              <a:t>USDIDR, BI 7-DRRR, Inflation, Indo Govt bond taken from </a:t>
            </a:r>
            <a:r>
              <a:rPr lang="en-US" sz="800" dirty="0" err="1">
                <a:solidFill>
                  <a:schemeClr val="bg1"/>
                </a:solidFill>
              </a:rPr>
              <a:t>Mansek</a:t>
            </a:r>
            <a:r>
              <a:rPr lang="en-US" sz="800" dirty="0">
                <a:solidFill>
                  <a:schemeClr val="bg1"/>
                </a:solidFill>
              </a:rPr>
              <a:t> Investor Digest </a:t>
            </a:r>
            <a:r>
              <a:rPr lang="en-US" sz="800" dirty="0">
                <a:solidFill>
                  <a:schemeClr val="bg1"/>
                </a:solidFill>
                <a:hlinkClick r:id="rId5"/>
              </a:rPr>
              <a:t>https://growin.id/research</a:t>
            </a:r>
            <a:endParaRPr lang="en-US" sz="800" dirty="0">
              <a:solidFill>
                <a:schemeClr val="bg1"/>
              </a:solidFill>
            </a:endParaRPr>
          </a:p>
          <a:p>
            <a:endParaRPr lang="en-US" sz="800" dirty="0">
              <a:solidFill>
                <a:schemeClr val="bg1"/>
              </a:solidFill>
            </a:endParaRPr>
          </a:p>
          <a:p>
            <a:r>
              <a:rPr lang="en-US" sz="800" dirty="0">
                <a:solidFill>
                  <a:schemeClr val="bg1"/>
                </a:solidFill>
              </a:rPr>
              <a:t>10-Yr US Govt taken from Henan Daily Report </a:t>
            </a:r>
            <a:r>
              <a:rPr lang="en-US" sz="800" dirty="0">
                <a:solidFill>
                  <a:schemeClr val="bg1"/>
                </a:solidFill>
                <a:hlinkClick r:id="rId6"/>
              </a:rPr>
              <a:t>https://hpsekuritas.id/insight</a:t>
            </a:r>
            <a:r>
              <a:rPr lang="en-US" sz="800" dirty="0">
                <a:solidFill>
                  <a:schemeClr val="bg1"/>
                </a:solidFill>
              </a:rPr>
              <a:t> </a:t>
            </a:r>
          </a:p>
          <a:p>
            <a:endParaRPr lang="en-US" sz="800" dirty="0">
              <a:solidFill>
                <a:schemeClr val="bg1"/>
              </a:solidFill>
            </a:endParaRPr>
          </a:p>
          <a:p>
            <a:r>
              <a:rPr lang="en-US" sz="800" dirty="0">
                <a:solidFill>
                  <a:schemeClr val="bg1"/>
                </a:solidFill>
              </a:rPr>
              <a:t>US Fed Funds rate just google</a:t>
            </a:r>
          </a:p>
        </p:txBody>
      </p:sp>
      <p:sp>
        <p:nvSpPr>
          <p:cNvPr id="98" name="TextBox 97">
            <a:extLst>
              <a:ext uri="{FF2B5EF4-FFF2-40B4-BE49-F238E27FC236}">
                <a16:creationId xmlns:a16="http://schemas.microsoft.com/office/drawing/2014/main" id="{32875D75-8294-D8FE-99E9-84C8AF6B1AE2}"/>
              </a:ext>
            </a:extLst>
          </p:cNvPr>
          <p:cNvSpPr txBox="1"/>
          <p:nvPr/>
        </p:nvSpPr>
        <p:spPr>
          <a:xfrm>
            <a:off x="-2217638" y="6210266"/>
            <a:ext cx="2148574" cy="461665"/>
          </a:xfrm>
          <a:prstGeom prst="rect">
            <a:avLst/>
          </a:prstGeom>
          <a:solidFill>
            <a:srgbClr val="000000"/>
          </a:solidFill>
        </p:spPr>
        <p:txBody>
          <a:bodyPr wrap="square" rtlCol="0">
            <a:spAutoFit/>
          </a:bodyPr>
          <a:lstStyle/>
          <a:p>
            <a:r>
              <a:rPr lang="en-US" sz="800" dirty="0">
                <a:solidFill>
                  <a:schemeClr val="bg1"/>
                </a:solidFill>
              </a:rPr>
              <a:t>Commodities data taken from </a:t>
            </a:r>
            <a:r>
              <a:rPr lang="en-US" sz="800" dirty="0" err="1">
                <a:solidFill>
                  <a:schemeClr val="bg1"/>
                </a:solidFill>
              </a:rPr>
              <a:t>Mansek</a:t>
            </a:r>
            <a:r>
              <a:rPr lang="en-US" sz="800" dirty="0">
                <a:solidFill>
                  <a:schemeClr val="bg1"/>
                </a:solidFill>
              </a:rPr>
              <a:t> Investor Digest </a:t>
            </a:r>
            <a:r>
              <a:rPr lang="en-US" sz="800" dirty="0">
                <a:solidFill>
                  <a:schemeClr val="bg1"/>
                </a:solidFill>
                <a:hlinkClick r:id="rId5"/>
              </a:rPr>
              <a:t>https://growin.id/research</a:t>
            </a:r>
            <a:endParaRPr lang="en-US" sz="800" dirty="0">
              <a:solidFill>
                <a:schemeClr val="bg1"/>
              </a:solidFill>
            </a:endParaRPr>
          </a:p>
          <a:p>
            <a:endParaRPr lang="en-US" sz="800" dirty="0">
              <a:solidFill>
                <a:schemeClr val="bg1"/>
              </a:solidFill>
            </a:endParaRPr>
          </a:p>
        </p:txBody>
      </p:sp>
      <p:sp>
        <p:nvSpPr>
          <p:cNvPr id="101" name="TextBox 100">
            <a:extLst>
              <a:ext uri="{FF2B5EF4-FFF2-40B4-BE49-F238E27FC236}">
                <a16:creationId xmlns:a16="http://schemas.microsoft.com/office/drawing/2014/main" id="{9D9F4CEF-A046-1C4F-395A-C742C4E979F3}"/>
              </a:ext>
            </a:extLst>
          </p:cNvPr>
          <p:cNvSpPr txBox="1"/>
          <p:nvPr/>
        </p:nvSpPr>
        <p:spPr>
          <a:xfrm>
            <a:off x="-2264553" y="1106420"/>
            <a:ext cx="2195489" cy="338554"/>
          </a:xfrm>
          <a:prstGeom prst="rect">
            <a:avLst/>
          </a:prstGeom>
          <a:solidFill>
            <a:srgbClr val="000000"/>
          </a:solidFill>
        </p:spPr>
        <p:txBody>
          <a:bodyPr wrap="square" rtlCol="0">
            <a:spAutoFit/>
          </a:bodyPr>
          <a:lstStyle/>
          <a:p>
            <a:pPr algn="r"/>
            <a:r>
              <a:rPr lang="en-US" sz="800" dirty="0">
                <a:solidFill>
                  <a:schemeClr val="bg1"/>
                </a:solidFill>
              </a:rPr>
              <a:t>Writing format:</a:t>
            </a:r>
          </a:p>
          <a:p>
            <a:pPr algn="r"/>
            <a:r>
              <a:rPr lang="en-US" sz="800" dirty="0">
                <a:solidFill>
                  <a:schemeClr val="bg1"/>
                </a:solidFill>
              </a:rPr>
              <a:t>Net Foreign.. then choose ”Buy” or “Sell” in bold  </a:t>
            </a:r>
          </a:p>
        </p:txBody>
      </p:sp>
      <p:sp>
        <p:nvSpPr>
          <p:cNvPr id="2" name="TextBox 1">
            <a:extLst>
              <a:ext uri="{FF2B5EF4-FFF2-40B4-BE49-F238E27FC236}">
                <a16:creationId xmlns:a16="http://schemas.microsoft.com/office/drawing/2014/main" id="{C495FABF-E6D1-60F7-D847-A6FC9F3FB15A}"/>
              </a:ext>
            </a:extLst>
          </p:cNvPr>
          <p:cNvSpPr txBox="1"/>
          <p:nvPr/>
        </p:nvSpPr>
        <p:spPr>
          <a:xfrm>
            <a:off x="7543800" y="8637814"/>
            <a:ext cx="184731" cy="369332"/>
          </a:xfrm>
          <a:prstGeom prst="rect">
            <a:avLst/>
          </a:prstGeom>
          <a:noFill/>
        </p:spPr>
        <p:txBody>
          <a:bodyPr wrap="none" rtlCol="0">
            <a:spAutoFit/>
          </a:bodyPr>
          <a:lstStyle/>
          <a:p>
            <a:endParaRPr lang="en-US"/>
          </a:p>
        </p:txBody>
      </p:sp>
      <p:sp>
        <p:nvSpPr>
          <p:cNvPr id="4" name="TextBox 3">
            <a:extLst>
              <a:ext uri="{FF2B5EF4-FFF2-40B4-BE49-F238E27FC236}">
                <a16:creationId xmlns:a16="http://schemas.microsoft.com/office/drawing/2014/main" id="{CC3A3506-ABF0-AA46-4C67-21F293FEBBAA}"/>
              </a:ext>
            </a:extLst>
          </p:cNvPr>
          <p:cNvSpPr txBox="1"/>
          <p:nvPr/>
        </p:nvSpPr>
        <p:spPr>
          <a:xfrm>
            <a:off x="7016712" y="4376067"/>
            <a:ext cx="3463718" cy="1631216"/>
          </a:xfrm>
          <a:prstGeom prst="rect">
            <a:avLst/>
          </a:prstGeom>
          <a:solidFill>
            <a:srgbClr val="000000"/>
          </a:solidFill>
        </p:spPr>
        <p:txBody>
          <a:bodyPr wrap="square" rtlCol="0">
            <a:spAutoFit/>
          </a:bodyPr>
          <a:lstStyle/>
          <a:p>
            <a:r>
              <a:rPr lang="en-US" sz="1000" b="1" dirty="0">
                <a:solidFill>
                  <a:schemeClr val="bg1"/>
                </a:solidFill>
              </a:rPr>
              <a:t>Fonts and Size formats:</a:t>
            </a:r>
            <a:br>
              <a:rPr lang="en-US" sz="1000" b="1" dirty="0">
                <a:solidFill>
                  <a:schemeClr val="bg1"/>
                </a:solidFill>
              </a:rPr>
            </a:br>
            <a:r>
              <a:rPr lang="en-US" sz="1000" b="1" dirty="0">
                <a:solidFill>
                  <a:schemeClr val="bg1"/>
                </a:solidFill>
              </a:rPr>
              <a:t>- Header Title: Arial 10 Bold </a:t>
            </a:r>
          </a:p>
          <a:p>
            <a:r>
              <a:rPr lang="en-US" sz="1000" b="1" dirty="0">
                <a:solidFill>
                  <a:schemeClr val="bg1"/>
                </a:solidFill>
              </a:rPr>
              <a:t>- Daily highlights title : Arial 8 Bold Capitalized</a:t>
            </a:r>
          </a:p>
          <a:p>
            <a:r>
              <a:rPr lang="en-US" sz="1000" b="1" dirty="0">
                <a:solidFill>
                  <a:schemeClr val="bg1"/>
                </a:solidFill>
              </a:rPr>
              <a:t>- Daily highlight texts/paragraphs: Arial 8</a:t>
            </a:r>
          </a:p>
          <a:p>
            <a:r>
              <a:rPr lang="en-US" sz="1000" b="1" dirty="0">
                <a:solidFill>
                  <a:schemeClr val="bg1"/>
                </a:solidFill>
              </a:rPr>
              <a:t>- Content Headline: Arial 8 Bold Capitalized</a:t>
            </a:r>
          </a:p>
          <a:p>
            <a:r>
              <a:rPr lang="en-US" sz="1000" b="1" dirty="0">
                <a:solidFill>
                  <a:schemeClr val="bg1"/>
                </a:solidFill>
              </a:rPr>
              <a:t>- Content Texts/paragraphs: Arial 8</a:t>
            </a:r>
          </a:p>
          <a:p>
            <a:r>
              <a:rPr lang="en-US" sz="1000" b="1" dirty="0">
                <a:solidFill>
                  <a:schemeClr val="bg1"/>
                </a:solidFill>
              </a:rPr>
              <a:t>- Tables Headline: Arial 6 Bold Capitalized</a:t>
            </a:r>
          </a:p>
          <a:p>
            <a:r>
              <a:rPr lang="en-US" sz="1000" b="1" dirty="0">
                <a:solidFill>
                  <a:schemeClr val="bg1"/>
                </a:solidFill>
              </a:rPr>
              <a:t>- Tables Texts: Arial 6 (EXCEPT Commodities table: Arial 5)</a:t>
            </a:r>
          </a:p>
          <a:p>
            <a:r>
              <a:rPr lang="en-US" sz="1000" b="1" dirty="0">
                <a:solidFill>
                  <a:schemeClr val="bg1"/>
                </a:solidFill>
              </a:rPr>
              <a:t>- Sources  and Disclaimer note: Arial 6</a:t>
            </a:r>
          </a:p>
          <a:p>
            <a:pPr marL="171450" indent="-171450">
              <a:buFontTx/>
              <a:buChar char="-"/>
            </a:pPr>
            <a:endParaRPr lang="en-US" sz="1000" b="1" dirty="0">
              <a:solidFill>
                <a:schemeClr val="bg1"/>
              </a:solidFill>
            </a:endParaRPr>
          </a:p>
        </p:txBody>
      </p:sp>
      <p:sp>
        <p:nvSpPr>
          <p:cNvPr id="24" name="TextBox 23">
            <a:extLst>
              <a:ext uri="{FF2B5EF4-FFF2-40B4-BE49-F238E27FC236}">
                <a16:creationId xmlns:a16="http://schemas.microsoft.com/office/drawing/2014/main" id="{9E8E5A4C-6899-8BAB-EC0F-4D74318B5B62}"/>
              </a:ext>
            </a:extLst>
          </p:cNvPr>
          <p:cNvSpPr txBox="1"/>
          <p:nvPr/>
        </p:nvSpPr>
        <p:spPr>
          <a:xfrm>
            <a:off x="2414886" y="10036054"/>
            <a:ext cx="2195489" cy="707886"/>
          </a:xfrm>
          <a:prstGeom prst="rect">
            <a:avLst/>
          </a:prstGeom>
          <a:noFill/>
        </p:spPr>
        <p:txBody>
          <a:bodyPr wrap="square" rtlCol="0">
            <a:spAutoFit/>
          </a:bodyPr>
          <a:lstStyle/>
          <a:p>
            <a:r>
              <a:rPr lang="en-US" sz="800" dirty="0">
                <a:solidFill>
                  <a:schemeClr val="bg1"/>
                </a:solidFill>
              </a:rPr>
              <a:t> </a:t>
            </a: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p:txBody>
      </p:sp>
      <p:sp>
        <p:nvSpPr>
          <p:cNvPr id="32" name="TextBox 31">
            <a:extLst>
              <a:ext uri="{FF2B5EF4-FFF2-40B4-BE49-F238E27FC236}">
                <a16:creationId xmlns:a16="http://schemas.microsoft.com/office/drawing/2014/main" id="{6218D232-85EF-E730-8F06-F416574F0AF5}"/>
              </a:ext>
            </a:extLst>
          </p:cNvPr>
          <p:cNvSpPr txBox="1"/>
          <p:nvPr/>
        </p:nvSpPr>
        <p:spPr>
          <a:xfrm>
            <a:off x="171988" y="798391"/>
            <a:ext cx="2095476"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KEY JCI DATA</a:t>
            </a:r>
          </a:p>
        </p:txBody>
      </p:sp>
      <p:graphicFrame>
        <p:nvGraphicFramePr>
          <p:cNvPr id="33" name="Table 32">
            <a:extLst>
              <a:ext uri="{FF2B5EF4-FFF2-40B4-BE49-F238E27FC236}">
                <a16:creationId xmlns:a16="http://schemas.microsoft.com/office/drawing/2014/main" id="{F30547C8-A2A5-D137-E598-41AC498197AB}"/>
              </a:ext>
            </a:extLst>
          </p:cNvPr>
          <p:cNvGraphicFramePr>
            <a:graphicFrameLocks noGrp="1"/>
          </p:cNvGraphicFramePr>
          <p:nvPr>
            <p:extLst>
              <p:ext uri="{D42A27DB-BD31-4B8C-83A1-F6EECF244321}">
                <p14:modId xmlns:p14="http://schemas.microsoft.com/office/powerpoint/2010/main" val="3334576837"/>
              </p:ext>
            </p:extLst>
          </p:nvPr>
        </p:nvGraphicFramePr>
        <p:xfrm>
          <a:off x="174856" y="1008926"/>
          <a:ext cx="2092606" cy="993359"/>
        </p:xfrm>
        <a:graphic>
          <a:graphicData uri="http://schemas.openxmlformats.org/drawingml/2006/table">
            <a:tbl>
              <a:tblPr bandRow="1">
                <a:tableStyleId>{69012ECD-51FC-41F1-AA8D-1B2483CD663E}</a:tableStyleId>
              </a:tblPr>
              <a:tblGrid>
                <a:gridCol w="1063394">
                  <a:extLst>
                    <a:ext uri="{9D8B030D-6E8A-4147-A177-3AD203B41FA5}">
                      <a16:colId xmlns:a16="http://schemas.microsoft.com/office/drawing/2014/main" val="3954576213"/>
                    </a:ext>
                  </a:extLst>
                </a:gridCol>
                <a:gridCol w="1029212">
                  <a:extLst>
                    <a:ext uri="{9D8B030D-6E8A-4147-A177-3AD203B41FA5}">
                      <a16:colId xmlns:a16="http://schemas.microsoft.com/office/drawing/2014/main" val="3166622237"/>
                    </a:ext>
                  </a:extLst>
                </a:gridCol>
              </a:tblGrid>
              <a:tr h="178076">
                <a:tc>
                  <a:txBody>
                    <a:bodyPr/>
                    <a:lstStyle/>
                    <a:p>
                      <a:pPr algn="l">
                        <a:lnSpc>
                          <a:spcPct val="115000"/>
                        </a:lnSpc>
                      </a:pPr>
                      <a:r>
                        <a:rPr lang="en-US" sz="700" b="1" dirty="0">
                          <a:solidFill>
                            <a:srgbClr val="000000"/>
                          </a:solidFill>
                          <a:effectLst/>
                          <a:latin typeface="Arial" panose="020B0604020202020204" pitchFamily="34" charset="0"/>
                          <a:cs typeface="Arial" panose="020B0604020202020204" pitchFamily="34" charset="0"/>
                        </a:rPr>
                        <a:t>JCI</a:t>
                      </a:r>
                      <a:endParaRPr lang="en-ID" sz="700" b="1"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ID" sz="7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[[JCI_CLOSE}}</a:t>
                      </a:r>
                    </a:p>
                  </a:txBody>
                  <a:tcPr marL="68580" marR="68580" marT="0" marB="0" anchor="ctr"/>
                </a:tc>
                <a:extLst>
                  <a:ext uri="{0D108BD9-81ED-4DB2-BD59-A6C34878D82A}">
                    <a16:rowId xmlns:a16="http://schemas.microsoft.com/office/drawing/2014/main" val="4031361067"/>
                  </a:ext>
                </a:extLst>
              </a:tr>
              <a:tr h="153481">
                <a:tc>
                  <a:txBody>
                    <a:bodyPr/>
                    <a:lstStyle/>
                    <a:p>
                      <a:pPr algn="l">
                        <a:lnSpc>
                          <a:spcPct val="115000"/>
                        </a:lnSpc>
                      </a:pPr>
                      <a:r>
                        <a:rPr lang="en-US" sz="600" b="0" dirty="0">
                          <a:solidFill>
                            <a:srgbClr val="000000"/>
                          </a:solidFill>
                          <a:effectLst/>
                          <a:latin typeface="Arial" panose="020B0604020202020204" pitchFamily="34" charset="0"/>
                          <a:cs typeface="Arial" panose="020B0604020202020204" pitchFamily="34" charset="0"/>
                        </a:rPr>
                        <a:t>% Change</a:t>
                      </a:r>
                      <a:endPar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{{JCI_CHG_PCT}}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87110289"/>
                  </a:ext>
                </a:extLst>
              </a:tr>
              <a:tr h="153481">
                <a:tc>
                  <a:txBody>
                    <a:bodyPr/>
                    <a:lstStyle/>
                    <a:p>
                      <a:pPr algn="l">
                        <a:lnSpc>
                          <a:spcPct val="115000"/>
                        </a:lnSpc>
                      </a:pPr>
                      <a:r>
                        <a:rPr lang="en-US" sz="600" b="0" dirty="0">
                          <a:solidFill>
                            <a:srgbClr val="000000"/>
                          </a:solidFill>
                          <a:effectLst/>
                          <a:latin typeface="Arial" panose="020B0604020202020204" pitchFamily="34" charset="0"/>
                          <a:cs typeface="Arial" panose="020B0604020202020204" pitchFamily="34" charset="0"/>
                        </a:rPr>
                        <a:t>YTD % Change</a:t>
                      </a:r>
                      <a:endPar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{JCI_YTD_PCT}}</a:t>
                      </a:r>
                    </a:p>
                  </a:txBody>
                  <a:tcPr marL="68580" marR="68580" marT="0" marB="0" anchor="ctr"/>
                </a:tc>
                <a:extLst>
                  <a:ext uri="{0D108BD9-81ED-4DB2-BD59-A6C34878D82A}">
                    <a16:rowId xmlns:a16="http://schemas.microsoft.com/office/drawing/2014/main" val="1244152413"/>
                  </a:ext>
                </a:extLst>
              </a:tr>
              <a:tr h="153481">
                <a:tc>
                  <a:txBody>
                    <a:bodyPr/>
                    <a:lstStyle/>
                    <a:p>
                      <a:pPr algn="l">
                        <a:lnSpc>
                          <a:spcPct val="115000"/>
                        </a:lnSpc>
                      </a:pPr>
                      <a:r>
                        <a:rPr lang="en-US" sz="600" b="0" dirty="0">
                          <a:solidFill>
                            <a:srgbClr val="000000"/>
                          </a:solidFill>
                          <a:effectLst/>
                          <a:latin typeface="Arial" panose="020B0604020202020204" pitchFamily="34" charset="0"/>
                          <a:cs typeface="Arial" panose="020B0604020202020204" pitchFamily="34" charset="0"/>
                        </a:rPr>
                        <a:t>Transaction Value (IDR </a:t>
                      </a:r>
                      <a:r>
                        <a:rPr lang="en-US" sz="600" b="0" dirty="0" err="1">
                          <a:solidFill>
                            <a:srgbClr val="000000"/>
                          </a:solidFill>
                          <a:effectLst/>
                          <a:latin typeface="Arial" panose="020B0604020202020204" pitchFamily="34" charset="0"/>
                          <a:cs typeface="Arial" panose="020B0604020202020204" pitchFamily="34" charset="0"/>
                        </a:rPr>
                        <a:t>tn</a:t>
                      </a:r>
                      <a:r>
                        <a:rPr lang="en-US" sz="600" b="0" dirty="0">
                          <a:solidFill>
                            <a:srgbClr val="000000"/>
                          </a:solidFill>
                          <a:effectLst/>
                          <a:latin typeface="Arial" panose="020B0604020202020204" pitchFamily="34" charset="0"/>
                          <a:cs typeface="Arial" panose="020B0604020202020204" pitchFamily="34" charset="0"/>
                        </a:rPr>
                        <a:t>)</a:t>
                      </a:r>
                      <a:endPar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{{TRADING_VALUE_TN}}</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7913581"/>
                  </a:ext>
                </a:extLst>
              </a:tr>
              <a:tr h="153481">
                <a:tc>
                  <a:txBody>
                    <a:bodyPr/>
                    <a:lstStyle/>
                    <a:p>
                      <a:pPr algn="l">
                        <a:lnSpc>
                          <a:spcPct val="115000"/>
                        </a:lnSpc>
                      </a:pPr>
                      <a:r>
                        <a:rPr lang="en-US"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{NET_FOREIGN_LABEL}}</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{NET_FOREIGN_VALUE_TN}}</a:t>
                      </a:r>
                    </a:p>
                  </a:txBody>
                  <a:tcPr marL="68580" marR="68580" marT="0" marB="0" anchor="ctr"/>
                </a:tc>
                <a:extLst>
                  <a:ext uri="{0D108BD9-81ED-4DB2-BD59-A6C34878D82A}">
                    <a16:rowId xmlns:a16="http://schemas.microsoft.com/office/drawing/2014/main" val="647968631"/>
                  </a:ext>
                </a:extLst>
              </a:tr>
              <a:tr h="153481">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Market P/E (x)</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{MARKET_PER}}</a:t>
                      </a:r>
                    </a:p>
                  </a:txBody>
                  <a:tcPr marL="68580" marR="68580" marT="0" marB="0" anchor="ctr"/>
                </a:tc>
                <a:extLst>
                  <a:ext uri="{0D108BD9-81ED-4DB2-BD59-A6C34878D82A}">
                    <a16:rowId xmlns:a16="http://schemas.microsoft.com/office/drawing/2014/main" val="888614294"/>
                  </a:ext>
                </a:extLst>
              </a:tr>
            </a:tbl>
          </a:graphicData>
        </a:graphic>
      </p:graphicFrame>
      <p:sp>
        <p:nvSpPr>
          <p:cNvPr id="34" name="TextBox 33">
            <a:extLst>
              <a:ext uri="{FF2B5EF4-FFF2-40B4-BE49-F238E27FC236}">
                <a16:creationId xmlns:a16="http://schemas.microsoft.com/office/drawing/2014/main" id="{F5C84159-B72A-DE77-CED9-4231DD81898A}"/>
              </a:ext>
            </a:extLst>
          </p:cNvPr>
          <p:cNvSpPr txBox="1"/>
          <p:nvPr/>
        </p:nvSpPr>
        <p:spPr>
          <a:xfrm>
            <a:off x="165305" y="1983246"/>
            <a:ext cx="2101658"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INDONESIA INDICES</a:t>
            </a:r>
          </a:p>
        </p:txBody>
      </p:sp>
      <p:sp>
        <p:nvSpPr>
          <p:cNvPr id="38" name="TextBox 37">
            <a:extLst>
              <a:ext uri="{FF2B5EF4-FFF2-40B4-BE49-F238E27FC236}">
                <a16:creationId xmlns:a16="http://schemas.microsoft.com/office/drawing/2014/main" id="{6AC0AA73-B17C-7CD7-2305-A216AE1AAF48}"/>
              </a:ext>
            </a:extLst>
          </p:cNvPr>
          <p:cNvSpPr txBox="1"/>
          <p:nvPr/>
        </p:nvSpPr>
        <p:spPr>
          <a:xfrm>
            <a:off x="171487" y="2862030"/>
            <a:ext cx="2095476"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GLOBAL INDICES</a:t>
            </a:r>
          </a:p>
        </p:txBody>
      </p:sp>
      <p:graphicFrame>
        <p:nvGraphicFramePr>
          <p:cNvPr id="39" name="Table 38">
            <a:extLst>
              <a:ext uri="{FF2B5EF4-FFF2-40B4-BE49-F238E27FC236}">
                <a16:creationId xmlns:a16="http://schemas.microsoft.com/office/drawing/2014/main" id="{E194024F-5837-F8BE-F321-62348693F37F}"/>
              </a:ext>
            </a:extLst>
          </p:cNvPr>
          <p:cNvGraphicFramePr>
            <a:graphicFrameLocks noGrp="1"/>
          </p:cNvGraphicFramePr>
          <p:nvPr>
            <p:extLst>
              <p:ext uri="{D42A27DB-BD31-4B8C-83A1-F6EECF244321}">
                <p14:modId xmlns:p14="http://schemas.microsoft.com/office/powerpoint/2010/main" val="3871725409"/>
              </p:ext>
            </p:extLst>
          </p:nvPr>
        </p:nvGraphicFramePr>
        <p:xfrm>
          <a:off x="176728" y="3067663"/>
          <a:ext cx="2090734" cy="2712076"/>
        </p:xfrm>
        <a:graphic>
          <a:graphicData uri="http://schemas.openxmlformats.org/drawingml/2006/table">
            <a:tbl>
              <a:tblPr firstRow="1" bandRow="1">
                <a:tableStyleId>{69012ECD-51FC-41F1-AA8D-1B2483CD663E}</a:tableStyleId>
              </a:tblPr>
              <a:tblGrid>
                <a:gridCol w="1193708">
                  <a:extLst>
                    <a:ext uri="{9D8B030D-6E8A-4147-A177-3AD203B41FA5}">
                      <a16:colId xmlns:a16="http://schemas.microsoft.com/office/drawing/2014/main" val="999238737"/>
                    </a:ext>
                  </a:extLst>
                </a:gridCol>
                <a:gridCol w="448513">
                  <a:extLst>
                    <a:ext uri="{9D8B030D-6E8A-4147-A177-3AD203B41FA5}">
                      <a16:colId xmlns:a16="http://schemas.microsoft.com/office/drawing/2014/main" val="3166622237"/>
                    </a:ext>
                  </a:extLst>
                </a:gridCol>
                <a:gridCol w="448513">
                  <a:extLst>
                    <a:ext uri="{9D8B030D-6E8A-4147-A177-3AD203B41FA5}">
                      <a16:colId xmlns:a16="http://schemas.microsoft.com/office/drawing/2014/main" val="3894868766"/>
                    </a:ext>
                  </a:extLst>
                </a:gridCol>
              </a:tblGrid>
              <a:tr h="154800">
                <a:tc>
                  <a:txBody>
                    <a:bodyPr/>
                    <a:lstStyle/>
                    <a:p>
                      <a:pPr algn="l">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INDEX</a:t>
                      </a: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6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YTD</a:t>
                      </a:r>
                    </a:p>
                  </a:txBody>
                  <a:tcPr marL="68580" marR="68580" marT="0" marB="0" anchor="ctr">
                    <a:solidFill>
                      <a:schemeClr val="tx1"/>
                    </a:solidFill>
                  </a:tcPr>
                </a:tc>
                <a:extLst>
                  <a:ext uri="{0D108BD9-81ED-4DB2-BD59-A6C34878D82A}">
                    <a16:rowId xmlns:a16="http://schemas.microsoft.com/office/drawing/2014/main" val="3687110289"/>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Dow Jones Industrial Average</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{DOW_CHG_PCT}}</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{DOW_YTD_PCT}}</a:t>
                      </a:r>
                    </a:p>
                  </a:txBody>
                  <a:tcPr marL="68580" marR="68580" marT="0" marB="0" anchor="ctr"/>
                </a:tc>
                <a:extLst>
                  <a:ext uri="{0D108BD9-81ED-4DB2-BD59-A6C34878D82A}">
                    <a16:rowId xmlns:a16="http://schemas.microsoft.com/office/drawing/2014/main" val="1244152413"/>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S&amp;P 500 – USA</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{{SP500_CHG_PCT}}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{SP500_YTD_PCT}}</a:t>
                      </a:r>
                    </a:p>
                  </a:txBody>
                  <a:tcPr marL="68580" marR="68580" marT="0" marB="0" anchor="ctr"/>
                </a:tc>
                <a:extLst>
                  <a:ext uri="{0D108BD9-81ED-4DB2-BD59-A6C34878D82A}">
                    <a16:rowId xmlns:a16="http://schemas.microsoft.com/office/drawing/2014/main" val="927913581"/>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Nasdaq Composite – USA</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{NASDAQ_CHG_PCT}}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{NASDAQ_YTD_PCT}}</a:t>
                      </a:r>
                    </a:p>
                  </a:txBody>
                  <a:tcPr marL="68580" marR="68580" marT="0" marB="0" anchor="ctr"/>
                </a:tc>
                <a:extLst>
                  <a:ext uri="{0D108BD9-81ED-4DB2-BD59-A6C34878D82A}">
                    <a16:rowId xmlns:a16="http://schemas.microsoft.com/office/drawing/2014/main" val="4112439258"/>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Nikkei – Japan</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{NIKKEI_CHG_PCT}}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{NIKKEI_YTD_PCT}}</a:t>
                      </a:r>
                    </a:p>
                  </a:txBody>
                  <a:tcPr marL="68580" marR="68580" marT="0" marB="0" anchor="ctr"/>
                </a:tc>
                <a:extLst>
                  <a:ext uri="{0D108BD9-81ED-4DB2-BD59-A6C34878D82A}">
                    <a16:rowId xmlns:a16="http://schemas.microsoft.com/office/drawing/2014/main" val="2824483070"/>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Hang Seng – Hong Kong</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{HANG_SENG_CHG_PCT}}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{{HANG_SENG_YTD_PCT}}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43004622"/>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Straits Times – Singapore</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{STI_CHG_PCT}}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{{STI_YTD_PCT}}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44502873"/>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FTSE – UK</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{FTSE_CHG_PCT}}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{{FTSE_YTD_PCT}}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36571577"/>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iShares Indo (EIDO)</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{EIDO_CHG_PCT}}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{EIDO_YTD_PCT}}</a:t>
                      </a:r>
                    </a:p>
                  </a:txBody>
                  <a:tcPr marL="68580" marR="68580" marT="0" marB="0" anchor="ctr"/>
                </a:tc>
                <a:extLst>
                  <a:ext uri="{0D108BD9-81ED-4DB2-BD59-A6C34878D82A}">
                    <a16:rowId xmlns:a16="http://schemas.microsoft.com/office/drawing/2014/main" val="3755729479"/>
                  </a:ext>
                </a:extLst>
              </a:tr>
            </a:tbl>
          </a:graphicData>
        </a:graphic>
      </p:graphicFrame>
      <p:sp>
        <p:nvSpPr>
          <p:cNvPr id="42" name="TextBox 41">
            <a:extLst>
              <a:ext uri="{FF2B5EF4-FFF2-40B4-BE49-F238E27FC236}">
                <a16:creationId xmlns:a16="http://schemas.microsoft.com/office/drawing/2014/main" id="{F4A8B897-1A7A-B5A3-1861-9E8847083EC3}"/>
              </a:ext>
            </a:extLst>
          </p:cNvPr>
          <p:cNvSpPr txBox="1"/>
          <p:nvPr/>
        </p:nvSpPr>
        <p:spPr>
          <a:xfrm>
            <a:off x="172485" y="7389471"/>
            <a:ext cx="2095476"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JCI SECTOR INDICES</a:t>
            </a:r>
          </a:p>
        </p:txBody>
      </p:sp>
      <p:graphicFrame>
        <p:nvGraphicFramePr>
          <p:cNvPr id="45" name="Table 44">
            <a:extLst>
              <a:ext uri="{FF2B5EF4-FFF2-40B4-BE49-F238E27FC236}">
                <a16:creationId xmlns:a16="http://schemas.microsoft.com/office/drawing/2014/main" id="{55CB6DD5-7FAE-130B-4D92-707BAC733D9F}"/>
              </a:ext>
            </a:extLst>
          </p:cNvPr>
          <p:cNvGraphicFramePr>
            <a:graphicFrameLocks noGrp="1"/>
          </p:cNvGraphicFramePr>
          <p:nvPr>
            <p:extLst>
              <p:ext uri="{D42A27DB-BD31-4B8C-83A1-F6EECF244321}">
                <p14:modId xmlns:p14="http://schemas.microsoft.com/office/powerpoint/2010/main" val="69517483"/>
              </p:ext>
            </p:extLst>
          </p:nvPr>
        </p:nvGraphicFramePr>
        <p:xfrm>
          <a:off x="171986" y="7594975"/>
          <a:ext cx="1016915" cy="1671623"/>
        </p:xfrm>
        <a:graphic>
          <a:graphicData uri="http://schemas.openxmlformats.org/drawingml/2006/table">
            <a:tbl>
              <a:tblPr firstRow="1" bandRow="1">
                <a:tableStyleId>{69012ECD-51FC-41F1-AA8D-1B2483CD663E}</a:tableStyleId>
              </a:tblPr>
              <a:tblGrid>
                <a:gridCol w="561101">
                  <a:extLst>
                    <a:ext uri="{9D8B030D-6E8A-4147-A177-3AD203B41FA5}">
                      <a16:colId xmlns:a16="http://schemas.microsoft.com/office/drawing/2014/main" val="999238737"/>
                    </a:ext>
                  </a:extLst>
                </a:gridCol>
                <a:gridCol w="455814">
                  <a:extLst>
                    <a:ext uri="{9D8B030D-6E8A-4147-A177-3AD203B41FA5}">
                      <a16:colId xmlns:a16="http://schemas.microsoft.com/office/drawing/2014/main" val="3166622237"/>
                    </a:ext>
                  </a:extLst>
                </a:gridCol>
              </a:tblGrid>
              <a:tr h="138857">
                <a:tc>
                  <a:txBody>
                    <a:bodyPr/>
                    <a:lstStyle/>
                    <a:p>
                      <a:pPr algn="l">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SECTOR</a:t>
                      </a: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6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extLst>
                  <a:ext uri="{0D108BD9-81ED-4DB2-BD59-A6C34878D82A}">
                    <a16:rowId xmlns:a16="http://schemas.microsoft.com/office/drawing/2014/main" val="3687110289"/>
                  </a:ext>
                </a:extLst>
              </a:tr>
              <a:tr h="138857">
                <a:tc>
                  <a:txBody>
                    <a:bodyPr/>
                    <a:lstStyle/>
                    <a:p>
                      <a:pPr algn="l">
                        <a:lnSpc>
                          <a:spcPct val="115000"/>
                        </a:lnSpc>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IDXFINANCE</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{{IDXFINANCE_CHG_PCT}}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44152413"/>
                  </a:ext>
                </a:extLst>
              </a:tr>
              <a:tr h="138857">
                <a:tc>
                  <a:txBody>
                    <a:bodyPr/>
                    <a:lstStyle/>
                    <a:p>
                      <a:pPr algn="l">
                        <a:lnSpc>
                          <a:spcPct val="115000"/>
                        </a:lnSpc>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IDXBASIC</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{{IDXBASIC_CHG_PCT}}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7913581"/>
                  </a:ext>
                </a:extLst>
              </a:tr>
              <a:tr h="138857">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IDXNONCYC</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{IDXNONCYC_CHG_PCT}}</a:t>
                      </a:r>
                    </a:p>
                  </a:txBody>
                  <a:tcPr marL="68580" marR="68580" marT="0" marB="0" anchor="ctr"/>
                </a:tc>
                <a:extLst>
                  <a:ext uri="{0D108BD9-81ED-4DB2-BD59-A6C34878D82A}">
                    <a16:rowId xmlns:a16="http://schemas.microsoft.com/office/drawing/2014/main" val="4112439258"/>
                  </a:ext>
                </a:extLst>
              </a:tr>
              <a:tr h="138857">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IDXENERGY</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{IDXENERGY_CHG_PCT}}</a:t>
                      </a:r>
                    </a:p>
                  </a:txBody>
                  <a:tcPr marL="68580" marR="68580" marT="0" marB="0" anchor="ctr"/>
                </a:tc>
                <a:extLst>
                  <a:ext uri="{0D108BD9-81ED-4DB2-BD59-A6C34878D82A}">
                    <a16:rowId xmlns:a16="http://schemas.microsoft.com/office/drawing/2014/main" val="2824483070"/>
                  </a:ext>
                </a:extLst>
              </a:tr>
              <a:tr h="138857">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IDXINFRA</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{IDXINFRA_CHG_PCT}}</a:t>
                      </a:r>
                    </a:p>
                  </a:txBody>
                  <a:tcPr marL="68580" marR="68580" marT="0" marB="0" anchor="ctr"/>
                </a:tc>
                <a:extLst>
                  <a:ext uri="{0D108BD9-81ED-4DB2-BD59-A6C34878D82A}">
                    <a16:rowId xmlns:a16="http://schemas.microsoft.com/office/drawing/2014/main" val="643004622"/>
                  </a:ext>
                </a:extLst>
              </a:tr>
              <a:tr h="138857">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IDXTECHNO</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{IDXTECHNO_CHG_PCT}}</a:t>
                      </a:r>
                    </a:p>
                  </a:txBody>
                  <a:tcPr marL="68580" marR="68580" marT="0" marB="0" anchor="ctr"/>
                </a:tc>
                <a:extLst>
                  <a:ext uri="{0D108BD9-81ED-4DB2-BD59-A6C34878D82A}">
                    <a16:rowId xmlns:a16="http://schemas.microsoft.com/office/drawing/2014/main" val="2189111236"/>
                  </a:ext>
                </a:extLst>
              </a:tr>
            </a:tbl>
          </a:graphicData>
        </a:graphic>
      </p:graphicFrame>
      <p:graphicFrame>
        <p:nvGraphicFramePr>
          <p:cNvPr id="46" name="Table 45">
            <a:extLst>
              <a:ext uri="{FF2B5EF4-FFF2-40B4-BE49-F238E27FC236}">
                <a16:creationId xmlns:a16="http://schemas.microsoft.com/office/drawing/2014/main" id="{6E309AC4-0ACA-9CD8-3878-10454C66DF10}"/>
              </a:ext>
            </a:extLst>
          </p:cNvPr>
          <p:cNvGraphicFramePr>
            <a:graphicFrameLocks noGrp="1"/>
          </p:cNvGraphicFramePr>
          <p:nvPr>
            <p:extLst>
              <p:ext uri="{D42A27DB-BD31-4B8C-83A1-F6EECF244321}">
                <p14:modId xmlns:p14="http://schemas.microsoft.com/office/powerpoint/2010/main" val="2259248521"/>
              </p:ext>
            </p:extLst>
          </p:nvPr>
        </p:nvGraphicFramePr>
        <p:xfrm>
          <a:off x="1250048" y="7604032"/>
          <a:ext cx="1021115" cy="1415305"/>
        </p:xfrm>
        <a:graphic>
          <a:graphicData uri="http://schemas.openxmlformats.org/drawingml/2006/table">
            <a:tbl>
              <a:tblPr firstRow="1" bandRow="1">
                <a:tableStyleId>{69012ECD-51FC-41F1-AA8D-1B2483CD663E}</a:tableStyleId>
              </a:tblPr>
              <a:tblGrid>
                <a:gridCol w="563418">
                  <a:extLst>
                    <a:ext uri="{9D8B030D-6E8A-4147-A177-3AD203B41FA5}">
                      <a16:colId xmlns:a16="http://schemas.microsoft.com/office/drawing/2014/main" val="999238737"/>
                    </a:ext>
                  </a:extLst>
                </a:gridCol>
                <a:gridCol w="457697">
                  <a:extLst>
                    <a:ext uri="{9D8B030D-6E8A-4147-A177-3AD203B41FA5}">
                      <a16:colId xmlns:a16="http://schemas.microsoft.com/office/drawing/2014/main" val="3166622237"/>
                    </a:ext>
                  </a:extLst>
                </a:gridCol>
              </a:tblGrid>
              <a:tr h="138000">
                <a:tc>
                  <a:txBody>
                    <a:bodyPr/>
                    <a:lstStyle/>
                    <a:p>
                      <a:pPr algn="l">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SECTOR</a:t>
                      </a: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6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extLst>
                  <a:ext uri="{0D108BD9-81ED-4DB2-BD59-A6C34878D82A}">
                    <a16:rowId xmlns:a16="http://schemas.microsoft.com/office/drawing/2014/main" val="3687110289"/>
                  </a:ext>
                </a:extLst>
              </a:tr>
              <a:tr h="138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IDXCYCLIC</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{{IDXCYCLIC_CHG_PCT}}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73986747"/>
                  </a:ext>
                </a:extLst>
              </a:tr>
              <a:tr h="138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IDXPROPERT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{IDXPROPERT_CHG_PCT}}</a:t>
                      </a:r>
                    </a:p>
                  </a:txBody>
                  <a:tcPr marL="68580" marR="68580" marT="0" marB="0" anchor="ctr"/>
                </a:tc>
                <a:extLst>
                  <a:ext uri="{0D108BD9-81ED-4DB2-BD59-A6C34878D82A}">
                    <a16:rowId xmlns:a16="http://schemas.microsoft.com/office/drawing/2014/main" val="3588512574"/>
                  </a:ext>
                </a:extLst>
              </a:tr>
              <a:tr h="138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IDXHEALTH</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{{IDXHEALTH_CHG_PCT}}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74864032"/>
                  </a:ext>
                </a:extLst>
              </a:tr>
              <a:tr h="138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IDXINDUST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{IDXINDUST_CHG_PCT}}</a:t>
                      </a:r>
                    </a:p>
                  </a:txBody>
                  <a:tcPr marL="68580" marR="68580" marT="0" marB="0" anchor="ctr"/>
                </a:tc>
                <a:extLst>
                  <a:ext uri="{0D108BD9-81ED-4DB2-BD59-A6C34878D82A}">
                    <a16:rowId xmlns:a16="http://schemas.microsoft.com/office/drawing/2014/main" val="2912606160"/>
                  </a:ext>
                </a:extLst>
              </a:tr>
              <a:tr h="138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IDXTRANS</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{IDXTRANS_CHG_PCT}}</a:t>
                      </a:r>
                    </a:p>
                  </a:txBody>
                  <a:tcPr marL="68580" marR="68580" marT="0" marB="0" anchor="ctr"/>
                </a:tc>
                <a:extLst>
                  <a:ext uri="{0D108BD9-81ED-4DB2-BD59-A6C34878D82A}">
                    <a16:rowId xmlns:a16="http://schemas.microsoft.com/office/drawing/2014/main" val="2176240034"/>
                  </a:ext>
                </a:extLst>
              </a:tr>
            </a:tbl>
          </a:graphicData>
        </a:graphic>
      </p:graphicFrame>
      <p:graphicFrame>
        <p:nvGraphicFramePr>
          <p:cNvPr id="47" name="Table 46">
            <a:extLst>
              <a:ext uri="{FF2B5EF4-FFF2-40B4-BE49-F238E27FC236}">
                <a16:creationId xmlns:a16="http://schemas.microsoft.com/office/drawing/2014/main" id="{2E331392-FB8B-00EA-6744-B309B3B3C602}"/>
              </a:ext>
            </a:extLst>
          </p:cNvPr>
          <p:cNvGraphicFramePr>
            <a:graphicFrameLocks noGrp="1"/>
          </p:cNvGraphicFramePr>
          <p:nvPr>
            <p:extLst>
              <p:ext uri="{D42A27DB-BD31-4B8C-83A1-F6EECF244321}">
                <p14:modId xmlns:p14="http://schemas.microsoft.com/office/powerpoint/2010/main" val="2900307397"/>
              </p:ext>
            </p:extLst>
          </p:nvPr>
        </p:nvGraphicFramePr>
        <p:xfrm>
          <a:off x="171487" y="2188879"/>
          <a:ext cx="913504" cy="757077"/>
        </p:xfrm>
        <a:graphic>
          <a:graphicData uri="http://schemas.openxmlformats.org/drawingml/2006/table">
            <a:tbl>
              <a:tblPr firstRow="1" bandRow="1">
                <a:tableStyleId>{69012ECD-51FC-41F1-AA8D-1B2483CD663E}</a:tableStyleId>
              </a:tblPr>
              <a:tblGrid>
                <a:gridCol w="391160">
                  <a:extLst>
                    <a:ext uri="{9D8B030D-6E8A-4147-A177-3AD203B41FA5}">
                      <a16:colId xmlns:a16="http://schemas.microsoft.com/office/drawing/2014/main" val="999238737"/>
                    </a:ext>
                  </a:extLst>
                </a:gridCol>
                <a:gridCol w="522344">
                  <a:extLst>
                    <a:ext uri="{9D8B030D-6E8A-4147-A177-3AD203B41FA5}">
                      <a16:colId xmlns:a16="http://schemas.microsoft.com/office/drawing/2014/main" val="3166622237"/>
                    </a:ext>
                  </a:extLst>
                </a:gridCol>
              </a:tblGrid>
              <a:tr h="153000">
                <a:tc>
                  <a:txBody>
                    <a:bodyPr/>
                    <a:lstStyle/>
                    <a:p>
                      <a:pPr algn="l">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INDEX</a:t>
                      </a: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6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extLst>
                  <a:ext uri="{0D108BD9-81ED-4DB2-BD59-A6C34878D82A}">
                    <a16:rowId xmlns:a16="http://schemas.microsoft.com/office/drawing/2014/main" val="3687110289"/>
                  </a:ext>
                </a:extLst>
              </a:tr>
              <a:tr h="1530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LQ45</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{LQ45_CHG_PCT}}</a:t>
                      </a:r>
                    </a:p>
                  </a:txBody>
                  <a:tcPr marL="68580" marR="68580" marT="0" marB="0" anchor="ctr"/>
                </a:tc>
                <a:extLst>
                  <a:ext uri="{0D108BD9-81ED-4DB2-BD59-A6C34878D82A}">
                    <a16:rowId xmlns:a16="http://schemas.microsoft.com/office/drawing/2014/main" val="1244152413"/>
                  </a:ext>
                </a:extLst>
              </a:tr>
              <a:tr h="1530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IDX30</a:t>
                      </a:r>
                    </a:p>
                  </a:txBody>
                  <a:tcPr marL="68580" marR="68580" marT="0" marB="0" anchor="ctr"/>
                </a:tc>
                <a:tc>
                  <a:txBody>
                    <a:bodyPr/>
                    <a:lstStyle/>
                    <a:p>
                      <a:pPr algn="r">
                        <a:lnSpc>
                          <a:spcPct val="115000"/>
                        </a:lnSpc>
                      </a:pP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{{IDX30_CHG_PCT}}</a:t>
                      </a:r>
                    </a:p>
                  </a:txBody>
                  <a:tcPr marL="68580" marR="68580" marT="0" marB="0" anchor="ctr"/>
                </a:tc>
                <a:extLst>
                  <a:ext uri="{0D108BD9-81ED-4DB2-BD59-A6C34878D82A}">
                    <a16:rowId xmlns:a16="http://schemas.microsoft.com/office/drawing/2014/main" val="927913581"/>
                  </a:ext>
                </a:extLst>
              </a:tr>
              <a:tr h="153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IDX80</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{IDX80_CHG_PCT}}</a:t>
                      </a:r>
                    </a:p>
                  </a:txBody>
                  <a:tcPr marL="68580" marR="68580" marT="0" marB="0" anchor="ctr"/>
                </a:tc>
                <a:extLst>
                  <a:ext uri="{0D108BD9-81ED-4DB2-BD59-A6C34878D82A}">
                    <a16:rowId xmlns:a16="http://schemas.microsoft.com/office/drawing/2014/main" val="4112439258"/>
                  </a:ext>
                </a:extLst>
              </a:tr>
            </a:tbl>
          </a:graphicData>
        </a:graphic>
      </p:graphicFrame>
      <p:graphicFrame>
        <p:nvGraphicFramePr>
          <p:cNvPr id="48" name="Table 47">
            <a:extLst>
              <a:ext uri="{FF2B5EF4-FFF2-40B4-BE49-F238E27FC236}">
                <a16:creationId xmlns:a16="http://schemas.microsoft.com/office/drawing/2014/main" id="{E459BD55-2926-8129-B484-2246049C8CE0}"/>
              </a:ext>
            </a:extLst>
          </p:cNvPr>
          <p:cNvGraphicFramePr>
            <a:graphicFrameLocks noGrp="1"/>
          </p:cNvGraphicFramePr>
          <p:nvPr>
            <p:extLst>
              <p:ext uri="{D42A27DB-BD31-4B8C-83A1-F6EECF244321}">
                <p14:modId xmlns:p14="http://schemas.microsoft.com/office/powerpoint/2010/main" val="30589359"/>
              </p:ext>
            </p:extLst>
          </p:nvPr>
        </p:nvGraphicFramePr>
        <p:xfrm>
          <a:off x="1250048" y="2185978"/>
          <a:ext cx="1016915" cy="862233"/>
        </p:xfrm>
        <a:graphic>
          <a:graphicData uri="http://schemas.openxmlformats.org/drawingml/2006/table">
            <a:tbl>
              <a:tblPr firstRow="1" bandRow="1">
                <a:tableStyleId>{69012ECD-51FC-41F1-AA8D-1B2483CD663E}</a:tableStyleId>
              </a:tblPr>
              <a:tblGrid>
                <a:gridCol w="493147">
                  <a:extLst>
                    <a:ext uri="{9D8B030D-6E8A-4147-A177-3AD203B41FA5}">
                      <a16:colId xmlns:a16="http://schemas.microsoft.com/office/drawing/2014/main" val="999238737"/>
                    </a:ext>
                  </a:extLst>
                </a:gridCol>
                <a:gridCol w="523768">
                  <a:extLst>
                    <a:ext uri="{9D8B030D-6E8A-4147-A177-3AD203B41FA5}">
                      <a16:colId xmlns:a16="http://schemas.microsoft.com/office/drawing/2014/main" val="3166622237"/>
                    </a:ext>
                  </a:extLst>
                </a:gridCol>
              </a:tblGrid>
              <a:tr h="153000">
                <a:tc>
                  <a:txBody>
                    <a:bodyPr/>
                    <a:lstStyle/>
                    <a:p>
                      <a:pPr algn="l">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INDEX</a:t>
                      </a:r>
                    </a:p>
                  </a:txBody>
                  <a:tcPr marL="68580" marR="68580" marT="0" marB="0" anchor="ctr">
                    <a:solidFill>
                      <a:schemeClr val="tx1"/>
                    </a:solidFill>
                  </a:tcPr>
                </a:tc>
                <a:tc>
                  <a:txBody>
                    <a:bodyPr/>
                    <a:lstStyle/>
                    <a:p>
                      <a:pPr algn="r">
                        <a:lnSpc>
                          <a:spcPct val="115000"/>
                        </a:lnSpc>
                      </a:pPr>
                      <a:r>
                        <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6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extLst>
                  <a:ext uri="{0D108BD9-81ED-4DB2-BD59-A6C34878D82A}">
                    <a16:rowId xmlns:a16="http://schemas.microsoft.com/office/drawing/2014/main" val="3687110289"/>
                  </a:ext>
                </a:extLst>
              </a:tr>
              <a:tr h="1530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JII</a:t>
                      </a:r>
                    </a:p>
                  </a:txBody>
                  <a:tcPr marL="68580" marR="68580" marT="0" marB="0" anchor="ctr"/>
                </a:tc>
                <a:tc>
                  <a:txBody>
                    <a:bodyPr/>
                    <a:lstStyle/>
                    <a:p>
                      <a:pPr algn="r">
                        <a:lnSpc>
                          <a:spcPct val="115000"/>
                        </a:lnSpc>
                      </a:pP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{{JII_CHG_PCT}}</a:t>
                      </a:r>
                    </a:p>
                  </a:txBody>
                  <a:tcPr marL="68580" marR="68580" marT="0" marB="0" anchor="ctr"/>
                </a:tc>
                <a:extLst>
                  <a:ext uri="{0D108BD9-81ED-4DB2-BD59-A6C34878D82A}">
                    <a16:rowId xmlns:a16="http://schemas.microsoft.com/office/drawing/2014/main" val="1244152413"/>
                  </a:ext>
                </a:extLst>
              </a:tr>
              <a:tr h="1530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ISSI</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{{ISSI_CHG_PCT}}</a:t>
                      </a:r>
                      <a:endPar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27913581"/>
                  </a:ext>
                </a:extLst>
              </a:tr>
              <a:tr h="1530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Sri-</a:t>
                      </a:r>
                      <a:r>
                        <a:rPr lang="en-ID" sz="600" b="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Kehati</a:t>
                      </a:r>
                      <a:endPar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{{SRI_KEHATI_CHG_PCT}}</a:t>
                      </a:r>
                    </a:p>
                  </a:txBody>
                  <a:tcPr marL="68580" marR="68580" marT="0" marB="0" anchor="ctr"/>
                </a:tc>
                <a:extLst>
                  <a:ext uri="{0D108BD9-81ED-4DB2-BD59-A6C34878D82A}">
                    <a16:rowId xmlns:a16="http://schemas.microsoft.com/office/drawing/2014/main" val="4112439258"/>
                  </a:ext>
                </a:extLst>
              </a:tr>
            </a:tbl>
          </a:graphicData>
        </a:graphic>
      </p:graphicFrame>
      <p:sp>
        <p:nvSpPr>
          <p:cNvPr id="50" name="TextBox 49">
            <a:extLst>
              <a:ext uri="{FF2B5EF4-FFF2-40B4-BE49-F238E27FC236}">
                <a16:creationId xmlns:a16="http://schemas.microsoft.com/office/drawing/2014/main" id="{65EF614A-F609-BF1D-59E9-0C33444B0E6E}"/>
              </a:ext>
            </a:extLst>
          </p:cNvPr>
          <p:cNvSpPr txBox="1"/>
          <p:nvPr/>
        </p:nvSpPr>
        <p:spPr>
          <a:xfrm>
            <a:off x="171986" y="4528887"/>
            <a:ext cx="2099082"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MACRO INDICATORS</a:t>
            </a:r>
          </a:p>
        </p:txBody>
      </p:sp>
      <p:graphicFrame>
        <p:nvGraphicFramePr>
          <p:cNvPr id="52" name="Table 51">
            <a:extLst>
              <a:ext uri="{FF2B5EF4-FFF2-40B4-BE49-F238E27FC236}">
                <a16:creationId xmlns:a16="http://schemas.microsoft.com/office/drawing/2014/main" id="{66EFCE47-D58D-88CC-2FED-8A0043D057A0}"/>
              </a:ext>
            </a:extLst>
          </p:cNvPr>
          <p:cNvGraphicFramePr>
            <a:graphicFrameLocks noGrp="1"/>
          </p:cNvGraphicFramePr>
          <p:nvPr>
            <p:extLst>
              <p:ext uri="{D42A27DB-BD31-4B8C-83A1-F6EECF244321}">
                <p14:modId xmlns:p14="http://schemas.microsoft.com/office/powerpoint/2010/main" val="3882003835"/>
              </p:ext>
            </p:extLst>
          </p:nvPr>
        </p:nvGraphicFramePr>
        <p:xfrm>
          <a:off x="177701" y="4740184"/>
          <a:ext cx="2092608" cy="1130159"/>
        </p:xfrm>
        <a:graphic>
          <a:graphicData uri="http://schemas.openxmlformats.org/drawingml/2006/table">
            <a:tbl>
              <a:tblPr bandRow="1">
                <a:tableStyleId>{69012ECD-51FC-41F1-AA8D-1B2483CD663E}</a:tableStyleId>
              </a:tblPr>
              <a:tblGrid>
                <a:gridCol w="1399727">
                  <a:extLst>
                    <a:ext uri="{9D8B030D-6E8A-4147-A177-3AD203B41FA5}">
                      <a16:colId xmlns:a16="http://schemas.microsoft.com/office/drawing/2014/main" val="999238737"/>
                    </a:ext>
                  </a:extLst>
                </a:gridCol>
                <a:gridCol w="692881">
                  <a:extLst>
                    <a:ext uri="{9D8B030D-6E8A-4147-A177-3AD203B41FA5}">
                      <a16:colId xmlns:a16="http://schemas.microsoft.com/office/drawing/2014/main" val="3166622237"/>
                    </a:ext>
                  </a:extLst>
                </a:gridCol>
              </a:tblGrid>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USD/IDR</a:t>
                      </a:r>
                    </a:p>
                  </a:txBody>
                  <a:tcPr marL="68580" marR="68580" marT="0" marB="0" anchor="ctr">
                    <a:noFill/>
                  </a:tcPr>
                </a:tc>
                <a:tc>
                  <a:txBody>
                    <a:bodyPr/>
                    <a:lstStyle/>
                    <a:p>
                      <a:pPr algn="r">
                        <a:lnSpc>
                          <a:spcPct val="115000"/>
                        </a:lnSpc>
                      </a:pPr>
                      <a:r>
                        <a:rPr lang="en-US"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{{USDIDR}}</a:t>
                      </a:r>
                      <a:endPar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3687110289"/>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BI 7-DRRR</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{BI_RATE}}</a:t>
                      </a:r>
                    </a:p>
                  </a:txBody>
                  <a:tcPr marL="68580" marR="68580" marT="0" marB="0" anchor="ctr"/>
                </a:tc>
                <a:extLst>
                  <a:ext uri="{0D108BD9-81ED-4DB2-BD59-A6C34878D82A}">
                    <a16:rowId xmlns:a16="http://schemas.microsoft.com/office/drawing/2014/main" val="1244152413"/>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Inflation YoY %</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{INFLATION}}</a:t>
                      </a:r>
                    </a:p>
                  </a:txBody>
                  <a:tcPr marL="68580" marR="68580" marT="0" marB="0" anchor="ctr"/>
                </a:tc>
                <a:extLst>
                  <a:ext uri="{0D108BD9-81ED-4DB2-BD59-A6C34878D82A}">
                    <a16:rowId xmlns:a16="http://schemas.microsoft.com/office/drawing/2014/main" val="2176270636"/>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5-Yr Indo Govt Bond</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{INDO_5Y}}</a:t>
                      </a:r>
                    </a:p>
                  </a:txBody>
                  <a:tcPr marL="68580" marR="68580" marT="0" marB="0" anchor="ctr"/>
                </a:tc>
                <a:extLst>
                  <a:ext uri="{0D108BD9-81ED-4DB2-BD59-A6C34878D82A}">
                    <a16:rowId xmlns:a16="http://schemas.microsoft.com/office/drawing/2014/main" val="927913581"/>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10-Yr Indo Govt Bond</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{INDO_10Y}}</a:t>
                      </a:r>
                    </a:p>
                  </a:txBody>
                  <a:tcPr marL="68580" marR="68580" marT="0" marB="0" anchor="ctr"/>
                </a:tc>
                <a:extLst>
                  <a:ext uri="{0D108BD9-81ED-4DB2-BD59-A6C34878D82A}">
                    <a16:rowId xmlns:a16="http://schemas.microsoft.com/office/drawing/2014/main" val="4112439258"/>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US Fed Funds Rate</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{US_FED_FUNDS}}</a:t>
                      </a:r>
                    </a:p>
                  </a:txBody>
                  <a:tcPr marL="68580" marR="68580" marT="0" marB="0" anchor="ctr"/>
                </a:tc>
                <a:extLst>
                  <a:ext uri="{0D108BD9-81ED-4DB2-BD59-A6C34878D82A}">
                    <a16:rowId xmlns:a16="http://schemas.microsoft.com/office/drawing/2014/main" val="476857975"/>
                  </a:ext>
                </a:extLst>
              </a:tr>
              <a:tr h="154800">
                <a:tc>
                  <a:txBody>
                    <a:bodyPr/>
                    <a:lstStyle/>
                    <a:p>
                      <a:pPr algn="l">
                        <a:lnSpc>
                          <a:spcPct val="115000"/>
                        </a:lnSpc>
                      </a:pPr>
                      <a:r>
                        <a:rPr lang="en-ID" sz="6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10-Yr US Govt Bond</a:t>
                      </a:r>
                    </a:p>
                  </a:txBody>
                  <a:tcPr marL="68580" marR="68580" marT="0" marB="0" anchor="ctr"/>
                </a:tc>
                <a:tc>
                  <a:txBody>
                    <a:bodyPr/>
                    <a:lstStyle/>
                    <a:p>
                      <a:pPr algn="r">
                        <a:lnSpc>
                          <a:spcPct val="115000"/>
                        </a:lnSpc>
                      </a:pPr>
                      <a:r>
                        <a:rPr lang="en-US"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600" dirty="0">
                          <a:solidFill>
                            <a:srgbClr val="000000"/>
                          </a:solidFill>
                          <a:effectLst/>
                          <a:latin typeface="Arial" panose="020B0604020202020204" pitchFamily="34" charset="0"/>
                          <a:ea typeface="Calibri" panose="020F0502020204030204" pitchFamily="34" charset="0"/>
                          <a:cs typeface="Arial" panose="020B0604020202020204" pitchFamily="34" charset="0"/>
                        </a:rPr>
                        <a:t>{US_10Y}}</a:t>
                      </a:r>
                    </a:p>
                  </a:txBody>
                  <a:tcPr marL="68580" marR="68580" marT="0" marB="0" anchor="ctr"/>
                </a:tc>
                <a:extLst>
                  <a:ext uri="{0D108BD9-81ED-4DB2-BD59-A6C34878D82A}">
                    <a16:rowId xmlns:a16="http://schemas.microsoft.com/office/drawing/2014/main" val="2824483070"/>
                  </a:ext>
                </a:extLst>
              </a:tr>
            </a:tbl>
          </a:graphicData>
        </a:graphic>
      </p:graphicFrame>
      <p:sp>
        <p:nvSpPr>
          <p:cNvPr id="53" name="TextBox 52">
            <a:extLst>
              <a:ext uri="{FF2B5EF4-FFF2-40B4-BE49-F238E27FC236}">
                <a16:creationId xmlns:a16="http://schemas.microsoft.com/office/drawing/2014/main" id="{36ED12E3-25CC-0947-5855-BA2CDF07B5B6}"/>
              </a:ext>
            </a:extLst>
          </p:cNvPr>
          <p:cNvSpPr txBox="1"/>
          <p:nvPr/>
        </p:nvSpPr>
        <p:spPr>
          <a:xfrm>
            <a:off x="179074" y="5889884"/>
            <a:ext cx="2095476" cy="184666"/>
          </a:xfrm>
          <a:prstGeom prst="rect">
            <a:avLst/>
          </a:prstGeom>
          <a:solidFill>
            <a:schemeClr val="bg1">
              <a:lumMod val="85000"/>
            </a:schemeClr>
          </a:solidFill>
        </p:spPr>
        <p:txBody>
          <a:bodyPr wrap="square" rtlCol="0">
            <a:spAutoFit/>
          </a:bodyPr>
          <a:lstStyle/>
          <a:p>
            <a:r>
              <a:rPr lang="en-US" sz="600" b="1" dirty="0">
                <a:latin typeface="Arial" panose="020B0604020202020204" pitchFamily="34" charset="0"/>
                <a:cs typeface="Arial" panose="020B0604020202020204" pitchFamily="34" charset="0"/>
              </a:rPr>
              <a:t>COMMODITIES</a:t>
            </a:r>
          </a:p>
        </p:txBody>
      </p:sp>
      <p:graphicFrame>
        <p:nvGraphicFramePr>
          <p:cNvPr id="54" name="Table 53">
            <a:extLst>
              <a:ext uri="{FF2B5EF4-FFF2-40B4-BE49-F238E27FC236}">
                <a16:creationId xmlns:a16="http://schemas.microsoft.com/office/drawing/2014/main" id="{F886A750-6389-FC26-AD8D-96E5B9E1D763}"/>
              </a:ext>
            </a:extLst>
          </p:cNvPr>
          <p:cNvGraphicFramePr>
            <a:graphicFrameLocks noGrp="1"/>
          </p:cNvGraphicFramePr>
          <p:nvPr>
            <p:extLst>
              <p:ext uri="{D42A27DB-BD31-4B8C-83A1-F6EECF244321}">
                <p14:modId xmlns:p14="http://schemas.microsoft.com/office/powerpoint/2010/main" val="3814434791"/>
              </p:ext>
            </p:extLst>
          </p:nvPr>
        </p:nvGraphicFramePr>
        <p:xfrm>
          <a:off x="177226" y="6095517"/>
          <a:ext cx="2085277" cy="2030657"/>
        </p:xfrm>
        <a:graphic>
          <a:graphicData uri="http://schemas.openxmlformats.org/drawingml/2006/table">
            <a:tbl>
              <a:tblPr firstRow="1" bandRow="1">
                <a:tableStyleId>{69012ECD-51FC-41F1-AA8D-1B2483CD663E}</a:tableStyleId>
              </a:tblPr>
              <a:tblGrid>
                <a:gridCol w="847851">
                  <a:extLst>
                    <a:ext uri="{9D8B030D-6E8A-4147-A177-3AD203B41FA5}">
                      <a16:colId xmlns:a16="http://schemas.microsoft.com/office/drawing/2014/main" val="999238737"/>
                    </a:ext>
                  </a:extLst>
                </a:gridCol>
                <a:gridCol w="452903">
                  <a:extLst>
                    <a:ext uri="{9D8B030D-6E8A-4147-A177-3AD203B41FA5}">
                      <a16:colId xmlns:a16="http://schemas.microsoft.com/office/drawing/2014/main" val="3166622237"/>
                    </a:ext>
                  </a:extLst>
                </a:gridCol>
                <a:gridCol w="379244">
                  <a:extLst>
                    <a:ext uri="{9D8B030D-6E8A-4147-A177-3AD203B41FA5}">
                      <a16:colId xmlns:a16="http://schemas.microsoft.com/office/drawing/2014/main" val="2692995229"/>
                    </a:ext>
                  </a:extLst>
                </a:gridCol>
                <a:gridCol w="405279">
                  <a:extLst>
                    <a:ext uri="{9D8B030D-6E8A-4147-A177-3AD203B41FA5}">
                      <a16:colId xmlns:a16="http://schemas.microsoft.com/office/drawing/2014/main" val="3340981855"/>
                    </a:ext>
                  </a:extLst>
                </a:gridCol>
              </a:tblGrid>
              <a:tr h="154800">
                <a:tc>
                  <a:txBody>
                    <a:bodyPr/>
                    <a:lstStyle/>
                    <a:p>
                      <a:pPr algn="l">
                        <a:lnSpc>
                          <a:spcPct val="115000"/>
                        </a:lnSpc>
                      </a:pPr>
                      <a:r>
                        <a:rPr lang="en-ID" sz="5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COMMODITIES</a:t>
                      </a:r>
                    </a:p>
                  </a:txBody>
                  <a:tcPr marL="68580" marR="68580" marT="0" marB="0" anchor="ctr">
                    <a:solidFill>
                      <a:schemeClr val="tx1"/>
                    </a:solidFill>
                  </a:tcPr>
                </a:tc>
                <a:tc>
                  <a:txBody>
                    <a:bodyPr/>
                    <a:lstStyle/>
                    <a:p>
                      <a:pPr algn="r">
                        <a:lnSpc>
                          <a:spcPct val="115000"/>
                        </a:lnSpc>
                      </a:pPr>
                      <a:r>
                        <a:rPr lang="en-ID" sz="5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Price</a:t>
                      </a:r>
                    </a:p>
                  </a:txBody>
                  <a:tcPr marL="68580" marR="68580" marT="0" marB="0" anchor="ctr">
                    <a:solidFill>
                      <a:schemeClr val="tx1"/>
                    </a:solidFill>
                  </a:tcPr>
                </a:tc>
                <a:tc>
                  <a:txBody>
                    <a:bodyPr/>
                    <a:lstStyle/>
                    <a:p>
                      <a:pPr algn="r">
                        <a:lnSpc>
                          <a:spcPct val="115000"/>
                        </a:lnSpc>
                      </a:pPr>
                      <a:r>
                        <a:rPr lang="en-ID" sz="5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ID" sz="500" b="1" dirty="0" err="1">
                          <a:solidFill>
                            <a:schemeClr val="bg1"/>
                          </a:solidFill>
                          <a:effectLst/>
                          <a:latin typeface="Arial" panose="020B0604020202020204" pitchFamily="34" charset="0"/>
                          <a:ea typeface="Calibri" panose="020F0502020204030204" pitchFamily="34" charset="0"/>
                          <a:cs typeface="Arial" panose="020B0604020202020204" pitchFamily="34" charset="0"/>
                        </a:rPr>
                        <a:t>Chg</a:t>
                      </a:r>
                      <a:endParaRPr lang="en-ID" sz="5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tx1"/>
                    </a:solidFill>
                  </a:tcPr>
                </a:tc>
                <a:tc>
                  <a:txBody>
                    <a:bodyPr/>
                    <a:lstStyle/>
                    <a:p>
                      <a:pPr algn="r">
                        <a:lnSpc>
                          <a:spcPct val="115000"/>
                        </a:lnSpc>
                      </a:pPr>
                      <a:r>
                        <a:rPr lang="en-ID" sz="5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YTD</a:t>
                      </a:r>
                    </a:p>
                  </a:txBody>
                  <a:tcPr marL="68580" marR="68580" marT="0" marB="0" anchor="ctr">
                    <a:solidFill>
                      <a:schemeClr val="tx1"/>
                    </a:solidFill>
                  </a:tcPr>
                </a:tc>
                <a:extLst>
                  <a:ext uri="{0D108BD9-81ED-4DB2-BD59-A6C34878D82A}">
                    <a16:rowId xmlns:a16="http://schemas.microsoft.com/office/drawing/2014/main" val="3687110289"/>
                  </a:ext>
                </a:extLst>
              </a:tr>
              <a:tr h="154800">
                <a:tc>
                  <a:txBody>
                    <a:bodyPr/>
                    <a:lstStyle/>
                    <a:p>
                      <a:pPr algn="l">
                        <a:lnSpc>
                          <a:spcPct val="115000"/>
                        </a:lnSpc>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Brent Crude Oil (USD/bl)</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{BRENT_LAST}}</a:t>
                      </a:r>
                    </a:p>
                  </a:txBody>
                  <a:tcPr marL="68580" marR="68580" marT="0" marB="0" anchor="ctr"/>
                </a:tc>
                <a:tc>
                  <a:txBody>
                    <a:bodyPr/>
                    <a:lstStyle/>
                    <a:p>
                      <a:pPr algn="r">
                        <a:lnSpc>
                          <a:spcPct val="115000"/>
                        </a:lnSpc>
                      </a:pPr>
                      <a:r>
                        <a:rPr lang="en-US" sz="500" baseline="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baseline="0" dirty="0">
                          <a:solidFill>
                            <a:srgbClr val="000000"/>
                          </a:solidFill>
                          <a:effectLst/>
                          <a:latin typeface="Arial" panose="020B0604020202020204" pitchFamily="34" charset="0"/>
                          <a:ea typeface="Calibri" panose="020F0502020204030204" pitchFamily="34" charset="0"/>
                          <a:cs typeface="Arial" panose="020B0604020202020204" pitchFamily="34" charset="0"/>
                        </a:rPr>
                        <a:t>{BRENT_CHG_PCT}}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{BRENT_YTD_PCT}}</a:t>
                      </a:r>
                    </a:p>
                  </a:txBody>
                  <a:tcPr marL="68580" marR="68580" marT="0" marB="0" anchor="ctr"/>
                </a:tc>
                <a:extLst>
                  <a:ext uri="{0D108BD9-81ED-4DB2-BD59-A6C34878D82A}">
                    <a16:rowId xmlns:a16="http://schemas.microsoft.com/office/drawing/2014/main" val="1244152413"/>
                  </a:ext>
                </a:extLst>
              </a:tr>
              <a:tr h="154800">
                <a:tc>
                  <a:txBody>
                    <a:bodyPr/>
                    <a:lstStyle/>
                    <a:p>
                      <a:pPr algn="l">
                        <a:lnSpc>
                          <a:spcPct val="115000"/>
                        </a:lnSpc>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Gold (USD/oz)</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{GOLD_LAST}}</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{GOLD_CHG_PCT}}</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{GOLD_YTD_PCT}}</a:t>
                      </a:r>
                    </a:p>
                  </a:txBody>
                  <a:tcPr marL="68580" marR="68580" marT="0" marB="0" anchor="ctr"/>
                </a:tc>
                <a:extLst>
                  <a:ext uri="{0D108BD9-81ED-4DB2-BD59-A6C34878D82A}">
                    <a16:rowId xmlns:a16="http://schemas.microsoft.com/office/drawing/2014/main" val="927913581"/>
                  </a:ext>
                </a:extLst>
              </a:tr>
              <a:tr h="154800">
                <a:tc>
                  <a:txBody>
                    <a:bodyPr/>
                    <a:lstStyle/>
                    <a:p>
                      <a:pPr algn="l">
                        <a:lnSpc>
                          <a:spcPct val="115000"/>
                        </a:lnSpc>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Nickel spot (USD/</a:t>
                      </a:r>
                      <a:r>
                        <a:rPr lang="en-ID" sz="500" b="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mt</a:t>
                      </a: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{NICKEL_LAST}}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{NICKEL_CHG_PCT}}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{NICKEL_YTD_PCT}}</a:t>
                      </a:r>
                    </a:p>
                  </a:txBody>
                  <a:tcPr marL="68580" marR="68580" marT="0" marB="0" anchor="ctr"/>
                </a:tc>
                <a:extLst>
                  <a:ext uri="{0D108BD9-81ED-4DB2-BD59-A6C34878D82A}">
                    <a16:rowId xmlns:a16="http://schemas.microsoft.com/office/drawing/2014/main" val="4112439258"/>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Copper spot (USD/</a:t>
                      </a:r>
                      <a:r>
                        <a:rPr lang="en-ID" sz="500" b="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mt</a:t>
                      </a: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{COPPER_LAST}}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{{COPPER_CHG_PCT}}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{{COPPER_YTD_PCT}}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24483070"/>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Tin spot (USD/</a:t>
                      </a:r>
                      <a:r>
                        <a:rPr lang="en-ID" sz="500" b="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mt</a:t>
                      </a: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{TIN_LAST}}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{{TIN_CHG_PCT}}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{{TIN_YTD_PCT}}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43004622"/>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Coal spot (USD/ton)</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{COAL_LAST}}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{{COAL_CHG_PCT}}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{{COAL_YTD_PCT}}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07891653"/>
                  </a:ext>
                </a:extLst>
              </a:tr>
              <a:tr h="154800">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ID" sz="500" b="0" dirty="0">
                          <a:solidFill>
                            <a:srgbClr val="000000"/>
                          </a:solidFill>
                          <a:effectLst/>
                          <a:latin typeface="Arial" panose="020B0604020202020204" pitchFamily="34" charset="0"/>
                          <a:ea typeface="Calibri" panose="020F0502020204030204" pitchFamily="34" charset="0"/>
                          <a:cs typeface="Arial" panose="020B0604020202020204" pitchFamily="34" charset="0"/>
                        </a:rPr>
                        <a:t>CPO futures (MYR/ton)</a:t>
                      </a:r>
                    </a:p>
                  </a:txBody>
                  <a:tcPr marL="68580" marR="68580" marT="0" marB="0" anchor="ctr"/>
                </a:tc>
                <a:tc>
                  <a:txBody>
                    <a:bodyPr/>
                    <a:lstStyle/>
                    <a:p>
                      <a:pPr algn="r">
                        <a:lnSpc>
                          <a:spcPct val="115000"/>
                        </a:lnSpc>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{CPO_LAST}}</a:t>
                      </a: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{{CPO_CHG_PCT}}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r" defTabSz="457200" rtl="0" eaLnBrk="1" fontAlgn="auto" latinLnBrk="0" hangingPunct="1">
                        <a:lnSpc>
                          <a:spcPct val="115000"/>
                        </a:lnSpc>
                        <a:spcBef>
                          <a:spcPts val="0"/>
                        </a:spcBef>
                        <a:spcAft>
                          <a:spcPts val="0"/>
                        </a:spcAft>
                        <a:buClrTx/>
                        <a:buSzTx/>
                        <a:buFontTx/>
                        <a:buNone/>
                        <a:tabLst/>
                        <a:defRPr/>
                      </a:pPr>
                      <a:r>
                        <a:rPr lang="en-US" sz="500" dirty="0">
                          <a:solidFill>
                            <a:srgbClr val="000000"/>
                          </a:solidFill>
                          <a:effectLst/>
                          <a:latin typeface="Arial" panose="020B0604020202020204" pitchFamily="34" charset="0"/>
                          <a:ea typeface="Calibri" panose="020F0502020204030204" pitchFamily="34" charset="0"/>
                          <a:cs typeface="Arial" panose="020B0604020202020204" pitchFamily="34" charset="0"/>
                        </a:rPr>
                        <a:t>{{CPO_YTD_PCT}}</a:t>
                      </a:r>
                      <a:endParaRPr lang="en-ID" sz="5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44502873"/>
                  </a:ext>
                </a:extLst>
              </a:tr>
            </a:tbl>
          </a:graphicData>
        </a:graphic>
      </p:graphicFrame>
      <p:sp>
        <p:nvSpPr>
          <p:cNvPr id="18" name="Rectangle 17">
            <a:extLst>
              <a:ext uri="{FF2B5EF4-FFF2-40B4-BE49-F238E27FC236}">
                <a16:creationId xmlns:a16="http://schemas.microsoft.com/office/drawing/2014/main" id="{5FA16326-05A5-39E5-72C7-45A1B076CD9E}"/>
              </a:ext>
            </a:extLst>
          </p:cNvPr>
          <p:cNvSpPr/>
          <p:nvPr/>
        </p:nvSpPr>
        <p:spPr>
          <a:xfrm>
            <a:off x="2351204" y="1021531"/>
            <a:ext cx="4389315" cy="700192"/>
          </a:xfrm>
          <a:prstGeom prst="rect">
            <a:avLst/>
          </a:prstGeom>
        </p:spPr>
        <p:txBody>
          <a:bodyPr wrap="square">
            <a:spAutoFit/>
          </a:bodyPr>
          <a:lstStyle/>
          <a:p>
            <a:pPr marL="171450" indent="-171450" algn="just">
              <a:spcBef>
                <a:spcPts val="300"/>
              </a:spcBef>
              <a:buFont typeface="Arial" panose="020B0604020202020204" pitchFamily="34" charset="0"/>
              <a:buChar char="•"/>
            </a:pPr>
            <a:r>
              <a:rPr lang="en-GB" sz="800" dirty="0">
                <a:solidFill>
                  <a:srgbClr val="000000"/>
                </a:solidFill>
                <a:latin typeface="Arial" panose="020B0604020202020204" pitchFamily="34" charset="0"/>
                <a:cs typeface="Arial" panose="020B0604020202020204" pitchFamily="34" charset="0"/>
              </a:rPr>
              <a:t>{{HIGHLIGHT_1}}</a:t>
            </a:r>
          </a:p>
          <a:p>
            <a:pPr marL="171450" indent="-171450" algn="just">
              <a:spcBef>
                <a:spcPts val="300"/>
              </a:spcBef>
              <a:buFont typeface="Arial" panose="020B0604020202020204" pitchFamily="34" charset="0"/>
              <a:buChar char="•"/>
            </a:pPr>
            <a:r>
              <a:rPr lang="en-GB" sz="800" dirty="0">
                <a:solidFill>
                  <a:srgbClr val="000000"/>
                </a:solidFill>
                <a:latin typeface="Arial" panose="020B0604020202020204" pitchFamily="34" charset="0"/>
                <a:cs typeface="Arial" panose="020B0604020202020204" pitchFamily="34" charset="0"/>
              </a:rPr>
              <a:t>{{HIGHLIGHT_2}}</a:t>
            </a:r>
          </a:p>
          <a:p>
            <a:pPr marL="171450" indent="-171450" algn="just">
              <a:spcBef>
                <a:spcPts val="300"/>
              </a:spcBef>
              <a:buFont typeface="Arial" panose="020B0604020202020204" pitchFamily="34" charset="0"/>
              <a:buChar char="•"/>
            </a:pPr>
            <a:r>
              <a:rPr lang="en-GB" sz="800" dirty="0">
                <a:solidFill>
                  <a:srgbClr val="000000"/>
                </a:solidFill>
                <a:latin typeface="Arial" panose="020B0604020202020204" pitchFamily="34" charset="0"/>
                <a:cs typeface="Arial" panose="020B0604020202020204" pitchFamily="34" charset="0"/>
              </a:rPr>
              <a:t>{{HIGHLIGHT_3}}</a:t>
            </a:r>
          </a:p>
          <a:p>
            <a:pPr marL="171450" indent="-171450" algn="just">
              <a:spcBef>
                <a:spcPts val="300"/>
              </a:spcBef>
              <a:buFont typeface="Arial" panose="020B0604020202020204" pitchFamily="34" charset="0"/>
              <a:buChar char="•"/>
            </a:pPr>
            <a:r>
              <a:rPr lang="en-GB" sz="800" dirty="0">
                <a:solidFill>
                  <a:srgbClr val="000000"/>
                </a:solidFill>
                <a:latin typeface="Arial" panose="020B0604020202020204" pitchFamily="34" charset="0"/>
                <a:cs typeface="Arial" panose="020B0604020202020204" pitchFamily="34" charset="0"/>
              </a:rPr>
              <a:t>{{HIGHLIGHT_4}}</a:t>
            </a:r>
          </a:p>
        </p:txBody>
      </p:sp>
      <p:sp>
        <p:nvSpPr>
          <p:cNvPr id="7" name="TextBox 6">
            <a:extLst>
              <a:ext uri="{FF2B5EF4-FFF2-40B4-BE49-F238E27FC236}">
                <a16:creationId xmlns:a16="http://schemas.microsoft.com/office/drawing/2014/main" id="{3509E95D-9E69-71D0-5731-3955309E6140}"/>
              </a:ext>
            </a:extLst>
          </p:cNvPr>
          <p:cNvSpPr txBox="1"/>
          <p:nvPr/>
        </p:nvSpPr>
        <p:spPr>
          <a:xfrm>
            <a:off x="2356332" y="2950408"/>
            <a:ext cx="4389315" cy="215444"/>
          </a:xfrm>
          <a:prstGeom prst="rect">
            <a:avLst/>
          </a:prstGeom>
          <a:solidFill>
            <a:schemeClr val="bg2"/>
          </a:solidFill>
        </p:spPr>
        <p:txBody>
          <a:bodyPr wrap="square" rtlCol="0">
            <a:spAutoFit/>
          </a:bodyPr>
          <a:lstStyle/>
          <a:p>
            <a:r>
              <a:rPr lang="en-US" sz="800" b="1" dirty="0">
                <a:solidFill>
                  <a:schemeClr val="bg1"/>
                </a:solidFill>
                <a:latin typeface="Arial" panose="020B0604020202020204" pitchFamily="34" charset="0"/>
                <a:cs typeface="Arial" panose="020B0604020202020204" pitchFamily="34" charset="0"/>
              </a:rPr>
              <a:t>{{PARA_1_HEADLINE}}</a:t>
            </a:r>
          </a:p>
        </p:txBody>
      </p:sp>
      <p:sp>
        <p:nvSpPr>
          <p:cNvPr id="8" name="Rectangle 7">
            <a:extLst>
              <a:ext uri="{FF2B5EF4-FFF2-40B4-BE49-F238E27FC236}">
                <a16:creationId xmlns:a16="http://schemas.microsoft.com/office/drawing/2014/main" id="{CFF9891C-0661-D38C-8F71-8833D5E0111A}"/>
              </a:ext>
            </a:extLst>
          </p:cNvPr>
          <p:cNvSpPr/>
          <p:nvPr/>
        </p:nvSpPr>
        <p:spPr>
          <a:xfrm>
            <a:off x="2356332" y="3161195"/>
            <a:ext cx="4389315" cy="215444"/>
          </a:xfrm>
          <a:prstGeom prst="rect">
            <a:avLst/>
          </a:prstGeom>
        </p:spPr>
        <p:txBody>
          <a:bodyPr wrap="square">
            <a:spAutoFit/>
          </a:bodyPr>
          <a:lstStyle/>
          <a:p>
            <a:pPr algn="just">
              <a:spcBef>
                <a:spcPts val="300"/>
              </a:spcBef>
            </a:pPr>
            <a:r>
              <a:rPr lang="en-GB" sz="800" dirty="0">
                <a:solidFill>
                  <a:srgbClr val="000000"/>
                </a:solidFill>
                <a:latin typeface="Arial" panose="020B0604020202020204" pitchFamily="34" charset="0"/>
                <a:cs typeface="Arial" panose="020B0604020202020204" pitchFamily="34" charset="0"/>
              </a:rPr>
              <a:t>{{PARA_1_BODY}}</a:t>
            </a:r>
          </a:p>
        </p:txBody>
      </p:sp>
      <p:sp>
        <p:nvSpPr>
          <p:cNvPr id="5" name="TextBox 4">
            <a:extLst>
              <a:ext uri="{FF2B5EF4-FFF2-40B4-BE49-F238E27FC236}">
                <a16:creationId xmlns:a16="http://schemas.microsoft.com/office/drawing/2014/main" id="{8A1C4C06-B3CF-53C0-260E-CA95676C79A0}"/>
              </a:ext>
            </a:extLst>
          </p:cNvPr>
          <p:cNvSpPr txBox="1"/>
          <p:nvPr/>
        </p:nvSpPr>
        <p:spPr>
          <a:xfrm>
            <a:off x="2356332" y="4242422"/>
            <a:ext cx="4389315" cy="215444"/>
          </a:xfrm>
          <a:prstGeom prst="rect">
            <a:avLst/>
          </a:prstGeom>
          <a:solidFill>
            <a:schemeClr val="bg2"/>
          </a:solidFill>
        </p:spPr>
        <p:txBody>
          <a:bodyPr wrap="square" rtlCol="0">
            <a:spAutoFit/>
          </a:bodyPr>
          <a:lstStyle/>
          <a:p>
            <a:r>
              <a:rPr lang="en-US" sz="800" b="1" dirty="0">
                <a:solidFill>
                  <a:schemeClr val="bg1"/>
                </a:solidFill>
                <a:latin typeface="Arial" panose="020B0604020202020204" pitchFamily="34" charset="0"/>
                <a:cs typeface="Arial" panose="020B0604020202020204" pitchFamily="34" charset="0"/>
              </a:rPr>
              <a:t>{{PARA_2_HEADLINE}}</a:t>
            </a:r>
          </a:p>
        </p:txBody>
      </p:sp>
      <p:sp>
        <p:nvSpPr>
          <p:cNvPr id="6" name="Rectangle 5">
            <a:extLst>
              <a:ext uri="{FF2B5EF4-FFF2-40B4-BE49-F238E27FC236}">
                <a16:creationId xmlns:a16="http://schemas.microsoft.com/office/drawing/2014/main" id="{F6F2113F-4B02-53CC-B4AC-05FE794FAA24}"/>
              </a:ext>
            </a:extLst>
          </p:cNvPr>
          <p:cNvSpPr/>
          <p:nvPr/>
        </p:nvSpPr>
        <p:spPr>
          <a:xfrm>
            <a:off x="2356332" y="4453209"/>
            <a:ext cx="4389315" cy="215444"/>
          </a:xfrm>
          <a:prstGeom prst="rect">
            <a:avLst/>
          </a:prstGeom>
        </p:spPr>
        <p:txBody>
          <a:bodyPr wrap="square">
            <a:spAutoFit/>
          </a:bodyPr>
          <a:lstStyle/>
          <a:p>
            <a:pPr algn="just">
              <a:spcBef>
                <a:spcPts val="300"/>
              </a:spcBef>
            </a:pPr>
            <a:r>
              <a:rPr lang="en-GB" sz="800" dirty="0">
                <a:solidFill>
                  <a:srgbClr val="000000"/>
                </a:solidFill>
                <a:latin typeface="Arial" panose="020B0604020202020204" pitchFamily="34" charset="0"/>
                <a:cs typeface="Arial" panose="020B0604020202020204" pitchFamily="34" charset="0"/>
              </a:rPr>
              <a:t>{{PARA_2_BODY}}</a:t>
            </a:r>
          </a:p>
        </p:txBody>
      </p:sp>
    </p:spTree>
    <p:extLst>
      <p:ext uri="{BB962C8B-B14F-4D97-AF65-F5344CB8AC3E}">
        <p14:creationId xmlns:p14="http://schemas.microsoft.com/office/powerpoint/2010/main" val="387742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2C73B-40A0-AB2F-318D-A4D5E1DC76C2}"/>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74C7634E-9AE7-26D8-B35C-81E9102F06D1}"/>
              </a:ext>
            </a:extLst>
          </p:cNvPr>
          <p:cNvSpPr txBox="1"/>
          <p:nvPr/>
        </p:nvSpPr>
        <p:spPr>
          <a:xfrm>
            <a:off x="167616" y="803038"/>
            <a:ext cx="6504345" cy="215444"/>
          </a:xfrm>
          <a:prstGeom prst="rect">
            <a:avLst/>
          </a:prstGeom>
          <a:solidFill>
            <a:schemeClr val="bg2"/>
          </a:solidFill>
        </p:spPr>
        <p:txBody>
          <a:bodyPr wrap="square" rtlCol="0">
            <a:spAutoFit/>
          </a:bodyPr>
          <a:lstStyle/>
          <a:p>
            <a:r>
              <a:rPr lang="en-US" sz="800" b="1" dirty="0">
                <a:solidFill>
                  <a:schemeClr val="bg1"/>
                </a:solidFill>
                <a:latin typeface="Arial" panose="020B0604020202020204" pitchFamily="34" charset="0"/>
                <a:cs typeface="Arial" panose="020B0604020202020204" pitchFamily="34" charset="0"/>
              </a:rPr>
              <a:t>MSCI INDONESIA CONSTITUENTS</a:t>
            </a:r>
          </a:p>
        </p:txBody>
      </p:sp>
      <p:cxnSp>
        <p:nvCxnSpPr>
          <p:cNvPr id="69" name="Straight Connector 68">
            <a:extLst>
              <a:ext uri="{FF2B5EF4-FFF2-40B4-BE49-F238E27FC236}">
                <a16:creationId xmlns:a16="http://schemas.microsoft.com/office/drawing/2014/main" id="{222B9783-C834-E317-DEC6-DF8295EDB4DE}"/>
              </a:ext>
            </a:extLst>
          </p:cNvPr>
          <p:cNvCxnSpPr>
            <a:cxnSpLocks/>
          </p:cNvCxnSpPr>
          <p:nvPr/>
        </p:nvCxnSpPr>
        <p:spPr>
          <a:xfrm>
            <a:off x="10751495" y="4326197"/>
            <a:ext cx="0" cy="1028369"/>
          </a:xfrm>
          <a:prstGeom prst="line">
            <a:avLst/>
          </a:prstGeom>
          <a:ln w="3175" cmpd="sng">
            <a:solidFill>
              <a:schemeClr val="bg1">
                <a:lumMod val="50000"/>
              </a:schemeClr>
            </a:solidFill>
            <a:prstDash val="dot"/>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3FA17408-7BE5-B7E5-6AF5-3F84301B6010}"/>
              </a:ext>
            </a:extLst>
          </p:cNvPr>
          <p:cNvGrpSpPr/>
          <p:nvPr/>
        </p:nvGrpSpPr>
        <p:grpSpPr>
          <a:xfrm>
            <a:off x="162627" y="159304"/>
            <a:ext cx="6513662" cy="596172"/>
            <a:chOff x="224720" y="135698"/>
            <a:chExt cx="6385174" cy="596172"/>
          </a:xfrm>
        </p:grpSpPr>
        <p:cxnSp>
          <p:nvCxnSpPr>
            <p:cNvPr id="35" name="Straight Connector 34">
              <a:extLst>
                <a:ext uri="{FF2B5EF4-FFF2-40B4-BE49-F238E27FC236}">
                  <a16:creationId xmlns:a16="http://schemas.microsoft.com/office/drawing/2014/main" id="{9CA8C4E1-C1EF-C446-C595-6884C4B93546}"/>
                </a:ext>
              </a:extLst>
            </p:cNvPr>
            <p:cNvCxnSpPr>
              <a:cxnSpLocks/>
            </p:cNvCxnSpPr>
            <p:nvPr/>
          </p:nvCxnSpPr>
          <p:spPr>
            <a:xfrm>
              <a:off x="225613" y="731870"/>
              <a:ext cx="6384281"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DAF0C25A-CC25-1F19-F8F2-A531462F7A57}"/>
                </a:ext>
              </a:extLst>
            </p:cNvPr>
            <p:cNvSpPr txBox="1"/>
            <p:nvPr/>
          </p:nvSpPr>
          <p:spPr>
            <a:xfrm>
              <a:off x="224720" y="135698"/>
              <a:ext cx="6380931" cy="539700"/>
            </a:xfrm>
            <a:prstGeom prst="rect">
              <a:avLst/>
            </a:prstGeom>
            <a:solidFill>
              <a:schemeClr val="bg2">
                <a:lumMod val="20000"/>
                <a:lumOff val="80000"/>
              </a:schemeClr>
            </a:solidFill>
          </p:spPr>
          <p:txBody>
            <a:bodyPr wrap="square" rtlCol="0">
              <a:spAutoFit/>
            </a:bodyPr>
            <a:lstStyle/>
            <a:p>
              <a:pPr>
                <a:lnSpc>
                  <a:spcPct val="150000"/>
                </a:lnSpc>
              </a:pPr>
              <a:endParaRPr lang="en-US" sz="500" dirty="0">
                <a:solidFill>
                  <a:srgbClr val="000000"/>
                </a:solidFill>
                <a:latin typeface="Arial" panose="020B0604020202020204" pitchFamily="34" charset="0"/>
                <a:cs typeface="Arial" panose="020B0604020202020204" pitchFamily="34" charset="0"/>
              </a:endParaRPr>
            </a:p>
            <a:p>
              <a:pPr>
                <a:lnSpc>
                  <a:spcPct val="150000"/>
                </a:lnSpc>
              </a:pPr>
              <a:r>
                <a:rPr lang="en-US" sz="1000" b="1" dirty="0">
                  <a:solidFill>
                    <a:srgbClr val="000000"/>
                  </a:solidFill>
                  <a:latin typeface="Arial" panose="020B0604020202020204" pitchFamily="34" charset="0"/>
                  <a:cs typeface="Arial" panose="020B0604020202020204" pitchFamily="34" charset="0"/>
                </a:rPr>
                <a:t>Wednesday, 7</a:t>
              </a:r>
              <a:r>
                <a:rPr lang="en-US" sz="1000" b="1" baseline="30000" dirty="0">
                  <a:solidFill>
                    <a:srgbClr val="000000"/>
                  </a:solidFill>
                  <a:latin typeface="Arial" panose="020B0604020202020204" pitchFamily="34" charset="0"/>
                  <a:cs typeface="Arial" panose="020B0604020202020204" pitchFamily="34" charset="0"/>
                </a:rPr>
                <a:t>th</a:t>
              </a:r>
              <a:r>
                <a:rPr lang="en-US" sz="1000" b="1" dirty="0">
                  <a:solidFill>
                    <a:srgbClr val="000000"/>
                  </a:solidFill>
                  <a:latin typeface="Arial" panose="020B0604020202020204" pitchFamily="34" charset="0"/>
                  <a:cs typeface="Arial" panose="020B0604020202020204" pitchFamily="34" charset="0"/>
                </a:rPr>
                <a:t> May 2026 </a:t>
              </a:r>
              <a:r>
                <a:rPr lang="en-US" sz="1000" dirty="0">
                  <a:solidFill>
                    <a:srgbClr val="000000"/>
                  </a:solidFill>
                  <a:latin typeface="Arial" panose="020B0604020202020204" pitchFamily="34" charset="0"/>
                  <a:cs typeface="Arial" panose="020B0604020202020204" pitchFamily="34" charset="0"/>
                </a:rPr>
                <a:t>| </a:t>
              </a:r>
              <a:r>
                <a:rPr lang="en-US" sz="1000" b="1" dirty="0">
                  <a:solidFill>
                    <a:srgbClr val="000000"/>
                  </a:solidFill>
                  <a:latin typeface="Arial" panose="020B0604020202020204" pitchFamily="34" charset="0"/>
                  <a:cs typeface="Arial" panose="020B0604020202020204" pitchFamily="34" charset="0"/>
                </a:rPr>
                <a:t>DAILY MARKET UPDATE </a:t>
              </a:r>
              <a:r>
                <a:rPr lang="en-US" sz="1000" dirty="0">
                  <a:solidFill>
                    <a:srgbClr val="000000"/>
                  </a:solidFill>
                  <a:latin typeface="Arial" panose="020B0604020202020204" pitchFamily="34" charset="0"/>
                  <a:cs typeface="Arial" panose="020B0604020202020204" pitchFamily="34" charset="0"/>
                </a:rPr>
                <a:t>| </a:t>
              </a:r>
              <a:r>
                <a:rPr lang="en-US" sz="1000" b="1" dirty="0">
                  <a:solidFill>
                    <a:srgbClr val="000000"/>
                  </a:solidFill>
                  <a:latin typeface="Arial" panose="020B0604020202020204" pitchFamily="34" charset="0"/>
                  <a:cs typeface="Arial" panose="020B0604020202020204" pitchFamily="34" charset="0"/>
                </a:rPr>
                <a:t>Golden Crest Fund</a:t>
              </a:r>
            </a:p>
            <a:p>
              <a:pPr>
                <a:lnSpc>
                  <a:spcPct val="150000"/>
                </a:lnSpc>
              </a:pPr>
              <a:endParaRPr lang="en-US" sz="500" b="1" dirty="0">
                <a:solidFill>
                  <a:srgbClr val="000000"/>
                </a:solidFill>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5DBF4EB4-185A-540B-FBA6-E7F7D35A25AB}"/>
                </a:ext>
              </a:extLst>
            </p:cNvPr>
            <p:cNvPicPr>
              <a:picLocks noChangeAspect="1"/>
            </p:cNvPicPr>
            <p:nvPr/>
          </p:nvPicPr>
          <p:blipFill>
            <a:blip r:embed="rId4"/>
            <a:stretch>
              <a:fillRect/>
            </a:stretch>
          </p:blipFill>
          <p:spPr>
            <a:xfrm>
              <a:off x="4951161" y="169208"/>
              <a:ext cx="1641394" cy="468970"/>
            </a:xfrm>
            <a:prstGeom prst="rect">
              <a:avLst/>
            </a:prstGeom>
          </p:spPr>
        </p:pic>
      </p:grpSp>
      <p:grpSp>
        <p:nvGrpSpPr>
          <p:cNvPr id="40" name="Group 39">
            <a:extLst>
              <a:ext uri="{FF2B5EF4-FFF2-40B4-BE49-F238E27FC236}">
                <a16:creationId xmlns:a16="http://schemas.microsoft.com/office/drawing/2014/main" id="{0A20D41C-74DB-B3C6-ABB0-400AE5851338}"/>
              </a:ext>
            </a:extLst>
          </p:cNvPr>
          <p:cNvGrpSpPr/>
          <p:nvPr/>
        </p:nvGrpSpPr>
        <p:grpSpPr>
          <a:xfrm>
            <a:off x="150178" y="8696321"/>
            <a:ext cx="6508424" cy="1102962"/>
            <a:chOff x="231659" y="8700380"/>
            <a:chExt cx="6389165" cy="1102962"/>
          </a:xfrm>
        </p:grpSpPr>
        <p:sp>
          <p:nvSpPr>
            <p:cNvPr id="67" name="Rectangle 66">
              <a:extLst>
                <a:ext uri="{FF2B5EF4-FFF2-40B4-BE49-F238E27FC236}">
                  <a16:creationId xmlns:a16="http://schemas.microsoft.com/office/drawing/2014/main" id="{99E4F829-79A7-485F-1BB3-119BEBD71F8F}"/>
                </a:ext>
              </a:extLst>
            </p:cNvPr>
            <p:cNvSpPr/>
            <p:nvPr/>
          </p:nvSpPr>
          <p:spPr>
            <a:xfrm>
              <a:off x="231659" y="8880012"/>
              <a:ext cx="6389165" cy="923330"/>
            </a:xfrm>
            <a:prstGeom prst="rect">
              <a:avLst/>
            </a:prstGeom>
          </p:spPr>
          <p:txBody>
            <a:bodyPr wrap="square">
              <a:spAutoFit/>
            </a:bodyPr>
            <a:lstStyle/>
            <a:p>
              <a:pPr algn="just"/>
              <a:r>
                <a:rPr lang="en-ID" sz="600" b="1" dirty="0">
                  <a:solidFill>
                    <a:srgbClr val="000000"/>
                  </a:solidFill>
                  <a:effectLst/>
                  <a:latin typeface="Arial" panose="020B0604020202020204" pitchFamily="34" charset="0"/>
                </a:rPr>
                <a:t>DISCLAIMER</a:t>
              </a:r>
              <a:r>
                <a:rPr lang="en-ID" sz="600" dirty="0">
                  <a:solidFill>
                    <a:srgbClr val="000000"/>
                  </a:solidFill>
                  <a:effectLst/>
                  <a:latin typeface="Arial" panose="020B0604020202020204" pitchFamily="34" charset="0"/>
                </a:rPr>
                <a:t>: The information contained herein is for informational purposes only and is subject to risks. The information should not be construed as any form of advice relating to tax, legal, financial, business or any matter and all persons should seek to obtain independent advice for the same. </a:t>
              </a:r>
            </a:p>
            <a:p>
              <a:pPr algn="just"/>
              <a:endParaRPr lang="en-ID" sz="600" dirty="0">
                <a:solidFill>
                  <a:srgbClr val="000000"/>
                </a:solidFill>
                <a:effectLst/>
                <a:latin typeface="Arial" panose="020B0604020202020204" pitchFamily="34" charset="0"/>
              </a:endParaRPr>
            </a:p>
            <a:p>
              <a:pPr algn="just"/>
              <a:r>
                <a:rPr lang="en-ID" sz="600" dirty="0">
                  <a:solidFill>
                    <a:srgbClr val="000000"/>
                  </a:solidFill>
                  <a:effectLst/>
                  <a:latin typeface="Arial" panose="020B0604020202020204" pitchFamily="34" charset="0"/>
                </a:rPr>
                <a:t>The information should not be construed as an offer to sell or purchase securities. Any such transaction shall be subject to a contractual understanding, necessary documentation, applicable laws, approvals and regulations. The information is provided on ‘as is/where is’ basis and North AMG Pte Ltd and/or its affiliates accept no liability or responsibility whatsoever for any direct or consequential loss and/or damages arising in relation to any use of opinions, forecast, materials and data contained herein or otherwise arising in connection therewith.</a:t>
              </a:r>
            </a:p>
            <a:p>
              <a:pPr algn="just"/>
              <a:endParaRPr lang="en-ID" sz="600" dirty="0">
                <a:solidFill>
                  <a:srgbClr val="000000"/>
                </a:solidFill>
                <a:effectLst/>
                <a:latin typeface="Arial" panose="020B0604020202020204" pitchFamily="34" charset="0"/>
              </a:endParaRPr>
            </a:p>
            <a:p>
              <a:pPr algn="just"/>
              <a:r>
                <a:rPr lang="en-ID" sz="600" dirty="0">
                  <a:solidFill>
                    <a:srgbClr val="000000"/>
                  </a:solidFill>
                  <a:effectLst/>
                  <a:latin typeface="Arial" panose="020B0604020202020204" pitchFamily="34" charset="0"/>
                </a:rPr>
                <a:t>Before committing to an investment, please seek advice from a financial or other professional adviser regarding the suitability of the product and read the relevant product offer documents including the risk disclosures. If Investors do not wish to seek financial advice, please consider carefully whether the product is suitable for you.</a:t>
              </a:r>
            </a:p>
          </p:txBody>
        </p:sp>
        <p:cxnSp>
          <p:nvCxnSpPr>
            <p:cNvPr id="3" name="Straight Connector 2">
              <a:extLst>
                <a:ext uri="{FF2B5EF4-FFF2-40B4-BE49-F238E27FC236}">
                  <a16:creationId xmlns:a16="http://schemas.microsoft.com/office/drawing/2014/main" id="{4486C5CF-8AB2-E280-AC24-C22E7252CB73}"/>
                </a:ext>
              </a:extLst>
            </p:cNvPr>
            <p:cNvCxnSpPr>
              <a:cxnSpLocks/>
            </p:cNvCxnSpPr>
            <p:nvPr/>
          </p:nvCxnSpPr>
          <p:spPr>
            <a:xfrm flipH="1">
              <a:off x="231659" y="8869415"/>
              <a:ext cx="6389164" cy="0"/>
            </a:xfrm>
            <a:prstGeom prst="line">
              <a:avLst/>
            </a:prstGeom>
            <a:ln w="3175" cmpd="sng">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555280D-E0D2-C8D8-4704-63DB06DCC04B}"/>
                </a:ext>
              </a:extLst>
            </p:cNvPr>
            <p:cNvSpPr txBox="1"/>
            <p:nvPr/>
          </p:nvSpPr>
          <p:spPr>
            <a:xfrm>
              <a:off x="238071" y="8700380"/>
              <a:ext cx="5336259" cy="184666"/>
            </a:xfrm>
            <a:prstGeom prst="rect">
              <a:avLst/>
            </a:prstGeom>
            <a:noFill/>
          </p:spPr>
          <p:txBody>
            <a:bodyPr wrap="square">
              <a:spAutoFit/>
            </a:bodyPr>
            <a:lstStyle/>
            <a:p>
              <a:r>
                <a:rPr lang="en-US" sz="600" i="1" dirty="0">
                  <a:solidFill>
                    <a:srgbClr val="000000"/>
                  </a:solidFill>
                  <a:latin typeface="Arial" panose="020B0604020202020204" pitchFamily="34" charset="0"/>
                  <a:cs typeface="Arial" panose="020B0604020202020204" pitchFamily="34" charset="0"/>
                </a:rPr>
                <a:t>Sources: Bloomberg, Research Reports, Media Coverage</a:t>
              </a:r>
              <a:endParaRPr lang="en-US" sz="600" dirty="0"/>
            </a:p>
          </p:txBody>
        </p:sp>
      </p:grpSp>
      <p:sp>
        <p:nvSpPr>
          <p:cNvPr id="77" name="TextBox 76">
            <a:extLst>
              <a:ext uri="{FF2B5EF4-FFF2-40B4-BE49-F238E27FC236}">
                <a16:creationId xmlns:a16="http://schemas.microsoft.com/office/drawing/2014/main" id="{14BAA26F-DD5F-781B-433B-53484FD4489F}"/>
              </a:ext>
            </a:extLst>
          </p:cNvPr>
          <p:cNvSpPr txBox="1"/>
          <p:nvPr/>
        </p:nvSpPr>
        <p:spPr>
          <a:xfrm>
            <a:off x="-2164540" y="237369"/>
            <a:ext cx="2095476" cy="2062103"/>
          </a:xfrm>
          <a:prstGeom prst="rect">
            <a:avLst/>
          </a:prstGeom>
          <a:solidFill>
            <a:srgbClr val="000000"/>
          </a:solidFill>
        </p:spPr>
        <p:txBody>
          <a:bodyPr wrap="square" rtlCol="0">
            <a:spAutoFit/>
          </a:bodyPr>
          <a:lstStyle/>
          <a:p>
            <a:pPr algn="r"/>
            <a:r>
              <a:rPr lang="en-US" sz="800" dirty="0">
                <a:solidFill>
                  <a:schemeClr val="bg1"/>
                </a:solidFill>
              </a:rPr>
              <a:t>Data taken from “MSCI List” Sheet</a:t>
            </a:r>
          </a:p>
          <a:p>
            <a:pPr algn="r"/>
            <a:endParaRPr lang="en-US" sz="800" dirty="0">
              <a:solidFill>
                <a:schemeClr val="bg1"/>
              </a:solidFill>
            </a:endParaRPr>
          </a:p>
          <a:p>
            <a:pPr algn="r"/>
            <a:r>
              <a:rPr lang="en-US" sz="800" dirty="0">
                <a:solidFill>
                  <a:schemeClr val="bg1"/>
                </a:solidFill>
              </a:rPr>
              <a:t>Prices are automatically updated daily, but cross-check to make sure there are no lags.</a:t>
            </a:r>
          </a:p>
          <a:p>
            <a:pPr algn="r"/>
            <a:endParaRPr lang="en-US" sz="800" dirty="0">
              <a:solidFill>
                <a:schemeClr val="bg1"/>
              </a:solidFill>
            </a:endParaRPr>
          </a:p>
          <a:p>
            <a:pPr algn="r"/>
            <a:r>
              <a:rPr lang="en-US" sz="800" dirty="0">
                <a:solidFill>
                  <a:schemeClr val="bg1"/>
                </a:solidFill>
              </a:rPr>
              <a:t>MSCI – Quarterly rebalancing, so update every quarter. Check MSCI Indonesia constituents list @ </a:t>
            </a:r>
            <a:r>
              <a:rPr lang="en-US" sz="800" dirty="0">
                <a:solidFill>
                  <a:schemeClr val="bg1"/>
                </a:solidFill>
                <a:hlinkClick r:id="rId5"/>
              </a:rPr>
              <a:t>https://www-cdn.msci.com/web/msci/index-tools/constituents</a:t>
            </a:r>
            <a:endParaRPr lang="en-US" sz="800" dirty="0">
              <a:solidFill>
                <a:schemeClr val="bg1"/>
              </a:solidFill>
            </a:endParaRPr>
          </a:p>
          <a:p>
            <a:pPr algn="r"/>
            <a:endParaRPr lang="en-US" sz="800" dirty="0">
              <a:solidFill>
                <a:schemeClr val="bg1"/>
              </a:solidFill>
            </a:endParaRPr>
          </a:p>
          <a:p>
            <a:pPr algn="r"/>
            <a:r>
              <a:rPr lang="en-US" sz="800" dirty="0">
                <a:solidFill>
                  <a:schemeClr val="bg1"/>
                </a:solidFill>
              </a:rPr>
              <a:t>FTSE also rebalanced periodically. FTSE Russell releases “Fact Sheets” on FTSE Indonesia, details on T10 Constitutents are included.</a:t>
            </a:r>
          </a:p>
          <a:p>
            <a:pPr algn="r"/>
            <a:endParaRPr lang="en-US" sz="800" dirty="0">
              <a:solidFill>
                <a:schemeClr val="bg1"/>
              </a:solidFill>
            </a:endParaRPr>
          </a:p>
        </p:txBody>
      </p:sp>
      <p:sp>
        <p:nvSpPr>
          <p:cNvPr id="88" name="TextBox 87">
            <a:extLst>
              <a:ext uri="{FF2B5EF4-FFF2-40B4-BE49-F238E27FC236}">
                <a16:creationId xmlns:a16="http://schemas.microsoft.com/office/drawing/2014/main" id="{1AB830A9-AA5A-D8C1-1F32-EB5ACAC7BDE7}"/>
              </a:ext>
            </a:extLst>
          </p:cNvPr>
          <p:cNvSpPr txBox="1"/>
          <p:nvPr/>
        </p:nvSpPr>
        <p:spPr>
          <a:xfrm>
            <a:off x="-2264553" y="7831336"/>
            <a:ext cx="2195489" cy="584775"/>
          </a:xfrm>
          <a:prstGeom prst="rect">
            <a:avLst/>
          </a:prstGeom>
          <a:noFill/>
        </p:spPr>
        <p:txBody>
          <a:bodyPr wrap="square" rtlCol="0">
            <a:spAutoFit/>
          </a:bodyPr>
          <a:lstStyle/>
          <a:p>
            <a:r>
              <a:rPr lang="en-US" sz="800" dirty="0">
                <a:solidFill>
                  <a:schemeClr val="bg1"/>
                </a:solidFill>
              </a:rPr>
              <a:t>JCI Sector Indices taken from </a:t>
            </a:r>
            <a:r>
              <a:rPr lang="en-US" sz="800" dirty="0" err="1">
                <a:solidFill>
                  <a:schemeClr val="bg1"/>
                </a:solidFill>
              </a:rPr>
              <a:t>Stockbit</a:t>
            </a:r>
            <a:r>
              <a:rPr lang="en-US" sz="800" dirty="0">
                <a:solidFill>
                  <a:schemeClr val="bg1"/>
                </a:solidFill>
              </a:rPr>
              <a:t> </a:t>
            </a:r>
            <a:r>
              <a:rPr lang="en-US" sz="800" dirty="0" err="1">
                <a:solidFill>
                  <a:schemeClr val="bg1"/>
                </a:solidFill>
              </a:rPr>
              <a:t>Sekuritas</a:t>
            </a:r>
            <a:r>
              <a:rPr lang="en-US" sz="800" dirty="0">
                <a:solidFill>
                  <a:schemeClr val="bg1"/>
                </a:solidFill>
              </a:rPr>
              <a:t> Apps. </a:t>
            </a:r>
          </a:p>
          <a:p>
            <a:r>
              <a:rPr lang="en-US" sz="800" dirty="0">
                <a:solidFill>
                  <a:schemeClr val="bg1"/>
                </a:solidFill>
              </a:rPr>
              <a:t>Can start to collect data from 16 WIB after market close</a:t>
            </a:r>
          </a:p>
        </p:txBody>
      </p:sp>
      <p:sp>
        <p:nvSpPr>
          <p:cNvPr id="2" name="TextBox 1">
            <a:extLst>
              <a:ext uri="{FF2B5EF4-FFF2-40B4-BE49-F238E27FC236}">
                <a16:creationId xmlns:a16="http://schemas.microsoft.com/office/drawing/2014/main" id="{1991B888-7A37-80DD-15BB-0FA2DF321634}"/>
              </a:ext>
            </a:extLst>
          </p:cNvPr>
          <p:cNvSpPr txBox="1"/>
          <p:nvPr/>
        </p:nvSpPr>
        <p:spPr>
          <a:xfrm>
            <a:off x="7543800" y="8637814"/>
            <a:ext cx="184731" cy="369332"/>
          </a:xfrm>
          <a:prstGeom prst="rect">
            <a:avLst/>
          </a:prstGeom>
          <a:noFill/>
        </p:spPr>
        <p:txBody>
          <a:bodyPr wrap="none" rtlCol="0">
            <a:spAutoFit/>
          </a:bodyPr>
          <a:lstStyle/>
          <a:p>
            <a:endParaRPr lang="en-US"/>
          </a:p>
        </p:txBody>
      </p:sp>
      <p:sp>
        <p:nvSpPr>
          <p:cNvPr id="24" name="TextBox 23">
            <a:extLst>
              <a:ext uri="{FF2B5EF4-FFF2-40B4-BE49-F238E27FC236}">
                <a16:creationId xmlns:a16="http://schemas.microsoft.com/office/drawing/2014/main" id="{74C9C612-DC23-3C7C-3294-C4DD89FE4874}"/>
              </a:ext>
            </a:extLst>
          </p:cNvPr>
          <p:cNvSpPr txBox="1"/>
          <p:nvPr/>
        </p:nvSpPr>
        <p:spPr>
          <a:xfrm>
            <a:off x="2414886" y="10036054"/>
            <a:ext cx="2195489" cy="707886"/>
          </a:xfrm>
          <a:prstGeom prst="rect">
            <a:avLst/>
          </a:prstGeom>
          <a:noFill/>
        </p:spPr>
        <p:txBody>
          <a:bodyPr wrap="square" rtlCol="0">
            <a:spAutoFit/>
          </a:bodyPr>
          <a:lstStyle/>
          <a:p>
            <a:r>
              <a:rPr lang="en-US" sz="800" dirty="0">
                <a:solidFill>
                  <a:schemeClr val="bg1"/>
                </a:solidFill>
              </a:rPr>
              <a:t> </a:t>
            </a: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p:txBody>
      </p:sp>
      <p:sp>
        <p:nvSpPr>
          <p:cNvPr id="25" name="TextBox 24">
            <a:extLst>
              <a:ext uri="{FF2B5EF4-FFF2-40B4-BE49-F238E27FC236}">
                <a16:creationId xmlns:a16="http://schemas.microsoft.com/office/drawing/2014/main" id="{4421DC45-04A0-4CB8-8AC0-4EC3727EDAFF}"/>
              </a:ext>
            </a:extLst>
          </p:cNvPr>
          <p:cNvSpPr txBox="1"/>
          <p:nvPr/>
        </p:nvSpPr>
        <p:spPr>
          <a:xfrm>
            <a:off x="2134354" y="-194639"/>
            <a:ext cx="2195489" cy="707886"/>
          </a:xfrm>
          <a:prstGeom prst="rect">
            <a:avLst/>
          </a:prstGeom>
          <a:noFill/>
        </p:spPr>
        <p:txBody>
          <a:bodyPr wrap="square" rtlCol="0">
            <a:spAutoFit/>
          </a:bodyPr>
          <a:lstStyle/>
          <a:p>
            <a:r>
              <a:rPr lang="en-US" sz="800" dirty="0">
                <a:solidFill>
                  <a:schemeClr val="bg1"/>
                </a:solidFill>
              </a:rPr>
              <a:t> </a:t>
            </a: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a:p>
            <a:endParaRPr lang="en-US" sz="800" dirty="0">
              <a:solidFill>
                <a:schemeClr val="bg1"/>
              </a:solidFill>
            </a:endParaRPr>
          </a:p>
        </p:txBody>
      </p:sp>
      <p:sp>
        <p:nvSpPr>
          <p:cNvPr id="7" name="Rectangle 6">
            <a:extLst>
              <a:ext uri="{FF2B5EF4-FFF2-40B4-BE49-F238E27FC236}">
                <a16:creationId xmlns:a16="http://schemas.microsoft.com/office/drawing/2014/main" id="{C847A308-1D1E-7052-ECE7-AAB2D593052D}"/>
              </a:ext>
            </a:extLst>
          </p:cNvPr>
          <p:cNvSpPr/>
          <p:nvPr/>
        </p:nvSpPr>
        <p:spPr>
          <a:xfrm>
            <a:off x="93209" y="3549132"/>
            <a:ext cx="4389315" cy="200055"/>
          </a:xfrm>
          <a:prstGeom prst="rect">
            <a:avLst/>
          </a:prstGeom>
        </p:spPr>
        <p:txBody>
          <a:bodyPr wrap="square">
            <a:spAutoFit/>
          </a:bodyPr>
          <a:lstStyle/>
          <a:p>
            <a:pPr algn="just">
              <a:spcBef>
                <a:spcPts val="300"/>
              </a:spcBef>
            </a:pPr>
            <a:r>
              <a:rPr lang="en-GB" sz="700" b="1" dirty="0">
                <a:solidFill>
                  <a:srgbClr val="000000"/>
                </a:solidFill>
                <a:latin typeface="Arial" panose="020B0604020202020204" pitchFamily="34" charset="0"/>
                <a:cs typeface="Arial" panose="020B0604020202020204" pitchFamily="34" charset="0"/>
              </a:rPr>
              <a:t>Note: Indonesia accounts for ~1% of MSCI Emerging Markets</a:t>
            </a:r>
          </a:p>
        </p:txBody>
      </p:sp>
      <p:sp>
        <p:nvSpPr>
          <p:cNvPr id="10" name="TextBox 9">
            <a:extLst>
              <a:ext uri="{FF2B5EF4-FFF2-40B4-BE49-F238E27FC236}">
                <a16:creationId xmlns:a16="http://schemas.microsoft.com/office/drawing/2014/main" id="{4622E26D-B270-4D9B-0643-1CD4F0633D09}"/>
              </a:ext>
            </a:extLst>
          </p:cNvPr>
          <p:cNvSpPr txBox="1"/>
          <p:nvPr/>
        </p:nvSpPr>
        <p:spPr>
          <a:xfrm>
            <a:off x="150178" y="3809336"/>
            <a:ext cx="6504345" cy="215444"/>
          </a:xfrm>
          <a:prstGeom prst="rect">
            <a:avLst/>
          </a:prstGeom>
          <a:solidFill>
            <a:schemeClr val="bg2"/>
          </a:solidFill>
        </p:spPr>
        <p:txBody>
          <a:bodyPr wrap="square" rtlCol="0">
            <a:spAutoFit/>
          </a:bodyPr>
          <a:lstStyle/>
          <a:p>
            <a:r>
              <a:rPr lang="en-US" sz="800" b="1" dirty="0">
                <a:solidFill>
                  <a:schemeClr val="bg1"/>
                </a:solidFill>
                <a:latin typeface="Arial" panose="020B0604020202020204" pitchFamily="34" charset="0"/>
                <a:cs typeface="Arial" panose="020B0604020202020204" pitchFamily="34" charset="0"/>
              </a:rPr>
              <a:t>FTSE INDONESIA TOP 10 CONSTITUENTS</a:t>
            </a:r>
          </a:p>
        </p:txBody>
      </p:sp>
      <p:sp>
        <p:nvSpPr>
          <p:cNvPr id="19" name="Rectangle 18">
            <a:extLst>
              <a:ext uri="{FF2B5EF4-FFF2-40B4-BE49-F238E27FC236}">
                <a16:creationId xmlns:a16="http://schemas.microsoft.com/office/drawing/2014/main" id="{2A4CD413-B4D0-8004-28DD-3A195402BB0C}"/>
              </a:ext>
            </a:extLst>
          </p:cNvPr>
          <p:cNvSpPr/>
          <p:nvPr/>
        </p:nvSpPr>
        <p:spPr>
          <a:xfrm>
            <a:off x="93208" y="5645602"/>
            <a:ext cx="4389315" cy="200055"/>
          </a:xfrm>
          <a:prstGeom prst="rect">
            <a:avLst/>
          </a:prstGeom>
        </p:spPr>
        <p:txBody>
          <a:bodyPr wrap="square">
            <a:spAutoFit/>
          </a:bodyPr>
          <a:lstStyle/>
          <a:p>
            <a:pPr algn="just">
              <a:spcBef>
                <a:spcPts val="300"/>
              </a:spcBef>
            </a:pPr>
            <a:r>
              <a:rPr lang="en-GB" sz="700" b="1" dirty="0">
                <a:solidFill>
                  <a:srgbClr val="000000"/>
                </a:solidFill>
                <a:latin typeface="Arial" panose="020B0604020202020204" pitchFamily="34" charset="0"/>
                <a:cs typeface="Arial" panose="020B0604020202020204" pitchFamily="34" charset="0"/>
              </a:rPr>
              <a:t>Note: Market cap and Weighting data is as of 31</a:t>
            </a:r>
            <a:r>
              <a:rPr lang="en-GB" sz="700" b="1" baseline="30000" dirty="0">
                <a:solidFill>
                  <a:srgbClr val="000000"/>
                </a:solidFill>
                <a:latin typeface="Arial" panose="020B0604020202020204" pitchFamily="34" charset="0"/>
                <a:cs typeface="Arial" panose="020B0604020202020204" pitchFamily="34" charset="0"/>
              </a:rPr>
              <a:t>st</a:t>
            </a:r>
            <a:r>
              <a:rPr lang="en-GB" sz="700" b="1" dirty="0">
                <a:solidFill>
                  <a:srgbClr val="000000"/>
                </a:solidFill>
                <a:latin typeface="Arial" panose="020B0604020202020204" pitchFamily="34" charset="0"/>
                <a:cs typeface="Arial" panose="020B0604020202020204" pitchFamily="34" charset="0"/>
              </a:rPr>
              <a:t> December 2025</a:t>
            </a:r>
          </a:p>
        </p:txBody>
      </p:sp>
      <p:graphicFrame>
        <p:nvGraphicFramePr>
          <p:cNvPr id="6" name="Table 5">
            <a:extLst>
              <a:ext uri="{FF2B5EF4-FFF2-40B4-BE49-F238E27FC236}">
                <a16:creationId xmlns:a16="http://schemas.microsoft.com/office/drawing/2014/main" id="{EA0EEFE2-96CA-48CD-DF99-0885F5929563}"/>
              </a:ext>
            </a:extLst>
          </p:cNvPr>
          <p:cNvGraphicFramePr>
            <a:graphicFrameLocks noGrp="1"/>
          </p:cNvGraphicFramePr>
          <p:nvPr>
            <p:extLst>
              <p:ext uri="{D42A27DB-BD31-4B8C-83A1-F6EECF244321}">
                <p14:modId xmlns:p14="http://schemas.microsoft.com/office/powerpoint/2010/main" val="1532662742"/>
              </p:ext>
            </p:extLst>
          </p:nvPr>
        </p:nvGraphicFramePr>
        <p:xfrm>
          <a:off x="172252" y="1043438"/>
          <a:ext cx="6482265" cy="2552700"/>
        </p:xfrm>
        <a:graphic>
          <a:graphicData uri="http://schemas.openxmlformats.org/drawingml/2006/table">
            <a:tbl>
              <a:tblPr/>
              <a:tblGrid>
                <a:gridCol w="216075">
                  <a:extLst>
                    <a:ext uri="{9D8B030D-6E8A-4147-A177-3AD203B41FA5}">
                      <a16:colId xmlns:a16="http://schemas.microsoft.com/office/drawing/2014/main" val="4073581074"/>
                    </a:ext>
                  </a:extLst>
                </a:gridCol>
                <a:gridCol w="1680587">
                  <a:extLst>
                    <a:ext uri="{9D8B030D-6E8A-4147-A177-3AD203B41FA5}">
                      <a16:colId xmlns:a16="http://schemas.microsoft.com/office/drawing/2014/main" val="913311799"/>
                    </a:ext>
                  </a:extLst>
                </a:gridCol>
                <a:gridCol w="672235">
                  <a:extLst>
                    <a:ext uri="{9D8B030D-6E8A-4147-A177-3AD203B41FA5}">
                      <a16:colId xmlns:a16="http://schemas.microsoft.com/office/drawing/2014/main" val="2062054201"/>
                    </a:ext>
                  </a:extLst>
                </a:gridCol>
                <a:gridCol w="912319">
                  <a:extLst>
                    <a:ext uri="{9D8B030D-6E8A-4147-A177-3AD203B41FA5}">
                      <a16:colId xmlns:a16="http://schemas.microsoft.com/office/drawing/2014/main" val="1084776339"/>
                    </a:ext>
                  </a:extLst>
                </a:gridCol>
                <a:gridCol w="912319">
                  <a:extLst>
                    <a:ext uri="{9D8B030D-6E8A-4147-A177-3AD203B41FA5}">
                      <a16:colId xmlns:a16="http://schemas.microsoft.com/office/drawing/2014/main" val="1129938587"/>
                    </a:ext>
                  </a:extLst>
                </a:gridCol>
                <a:gridCol w="912319">
                  <a:extLst>
                    <a:ext uri="{9D8B030D-6E8A-4147-A177-3AD203B41FA5}">
                      <a16:colId xmlns:a16="http://schemas.microsoft.com/office/drawing/2014/main" val="1896822130"/>
                    </a:ext>
                  </a:extLst>
                </a:gridCol>
                <a:gridCol w="1176411">
                  <a:extLst>
                    <a:ext uri="{9D8B030D-6E8A-4147-A177-3AD203B41FA5}">
                      <a16:colId xmlns:a16="http://schemas.microsoft.com/office/drawing/2014/main" val="2492309463"/>
                    </a:ext>
                  </a:extLst>
                </a:gridCol>
              </a:tblGrid>
              <a:tr h="98693">
                <a:tc gridSpan="7">
                  <a:txBody>
                    <a:bodyPr/>
                    <a:lstStyle/>
                    <a:p>
                      <a:pPr algn="ctr" fontAlgn="b">
                        <a:buNone/>
                      </a:pPr>
                      <a:r>
                        <a:rPr lang="en-ID" sz="800" b="1" i="0" u="none" strike="noStrike" dirty="0">
                          <a:solidFill>
                            <a:srgbClr val="FFFFFF"/>
                          </a:solidFill>
                          <a:effectLst/>
                          <a:latin typeface="Arial" panose="020B0604020202020204" pitchFamily="34" charset="0"/>
                        </a:rPr>
                        <a:t>07/05/2026</a:t>
                      </a:r>
                    </a:p>
                  </a:txBody>
                  <a:tcPr marL="5715" marR="5715" marT="5715" marB="0" anchor="b">
                    <a:lnL>
                      <a:noFill/>
                    </a:lnL>
                    <a:lnR>
                      <a:noFill/>
                    </a:lnR>
                    <a:lnT>
                      <a:noFill/>
                    </a:lnT>
                    <a:lnB w="12700" cap="flat" cmpd="sng" algn="ctr">
                      <a:solidFill>
                        <a:srgbClr val="FFFFFF"/>
                      </a:solidFill>
                      <a:prstDash val="solid"/>
                      <a:round/>
                      <a:headEnd type="none" w="med" len="med"/>
                      <a:tailEnd type="none" w="med" len="med"/>
                    </a:lnB>
                    <a:solidFill>
                      <a:srgbClr val="0C769E"/>
                    </a:solidFill>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extLst>
                  <a:ext uri="{0D108BD9-81ED-4DB2-BD59-A6C34878D82A}">
                    <a16:rowId xmlns:a16="http://schemas.microsoft.com/office/drawing/2014/main" val="1121407441"/>
                  </a:ext>
                </a:extLst>
              </a:tr>
              <a:tr h="78955">
                <a:tc>
                  <a:txBody>
                    <a:bodyPr/>
                    <a:lstStyle/>
                    <a:p>
                      <a:pPr algn="ctr" rtl="0" fontAlgn="ctr">
                        <a:buNone/>
                      </a:pPr>
                      <a:r>
                        <a:rPr lang="en-ID" sz="800" b="1" i="0" u="none" strike="noStrike" dirty="0">
                          <a:solidFill>
                            <a:srgbClr val="FFFFFF"/>
                          </a:solidFill>
                          <a:effectLst/>
                          <a:latin typeface="Calibri" panose="020F0502020204030204" pitchFamily="34" charset="0"/>
                        </a:rPr>
                        <a:t>No.</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a:solidFill>
                            <a:srgbClr val="FFFFFF"/>
                          </a:solidFill>
                          <a:effectLst/>
                          <a:latin typeface="Calibri" panose="020F0502020204030204" pitchFamily="34" charset="0"/>
                        </a:rPr>
                        <a:t>Security Name</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a:solidFill>
                            <a:srgbClr val="FFFFFF"/>
                          </a:solidFill>
                          <a:effectLst/>
                          <a:latin typeface="Calibri" panose="020F0502020204030204" pitchFamily="34" charset="0"/>
                        </a:rPr>
                        <a:t>Ticker</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dirty="0">
                          <a:solidFill>
                            <a:srgbClr val="FFFFFF"/>
                          </a:solidFill>
                          <a:effectLst/>
                          <a:latin typeface="Calibri" panose="020F0502020204030204" pitchFamily="34" charset="0"/>
                        </a:rPr>
                        <a:t>Last Closing Price</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a:solidFill>
                            <a:srgbClr val="FFFFFF"/>
                          </a:solidFill>
                          <a:effectLst/>
                          <a:latin typeface="Calibri" panose="020F0502020204030204" pitchFamily="34" charset="0"/>
                        </a:rPr>
                        <a:t>Daily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a:solidFill>
                            <a:srgbClr val="FFFFFF"/>
                          </a:solidFill>
                          <a:effectLst/>
                          <a:latin typeface="Calibri" panose="020F0502020204030204" pitchFamily="34" charset="0"/>
                        </a:rPr>
                        <a:t>YTD % Change</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800" b="1" i="0" u="none" strike="noStrike">
                          <a:solidFill>
                            <a:srgbClr val="FFFFFF"/>
                          </a:solidFill>
                          <a:effectLst/>
                          <a:latin typeface="Calibri" panose="020F0502020204030204" pitchFamily="34" charset="0"/>
                        </a:rPr>
                        <a:t>Closing Weight</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2986592323"/>
                  </a:ext>
                </a:extLst>
              </a:tr>
              <a:tr h="78955">
                <a:tc>
                  <a:txBody>
                    <a:bodyPr/>
                    <a:lstStyle/>
                    <a:p>
                      <a:pPr algn="ctr" rtl="0" fontAlgn="ctr">
                        <a:buNone/>
                      </a:pPr>
                      <a:r>
                        <a:rPr lang="en-ID" sz="800" b="0" i="0" u="none" strike="noStrike" dirty="0">
                          <a:solidFill>
                            <a:srgbClr val="002036"/>
                          </a:solidFill>
                          <a:effectLst/>
                          <a:latin typeface="Calibri" panose="020F0502020204030204" pitchFamily="34" charset="0"/>
                        </a:rPr>
                        <a:t>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BANK CENTRAL ASIA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BBCA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5,950.00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-26.3%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23.21%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052709642"/>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BANK RAKYAT INDONESIA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BBRI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3,160.00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-13.7%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12.86%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4002624579"/>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BANK MANDIRI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BMRI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4,510.00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-11.6%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9.23%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371103984"/>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TELKOM INDONESIA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TLKM</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2,900.00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-16.7%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8.90%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14382036"/>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ASTRA INTERNATIONAL</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ASII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5,750.00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-14.2%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6.43%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417634698"/>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DIAN SWASTATIKA SENTOSA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DSSA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1,480.00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-63.4%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5.29%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111009025"/>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AMMAN MINERAL INTL</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AMMN</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5,000.00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-3.4%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-22.2%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4.85%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199078568"/>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8</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BARITO PACIFIC</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BRPT</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2,290.00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-30.0%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3.96%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906698149"/>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BARITO RENEWABLES ENERGY</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BREN</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4,820.00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-50.3%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3.81%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087619564"/>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BANK NEGARA INDONESIA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BBNI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3,830.00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-12.4%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3.25%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4124672716"/>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CHANDRA ASRI PACIFIC</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TPIA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6,375.00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4.9%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-8.9%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3.06%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804187250"/>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GOTO GOJEK TOKOPEDIA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GOTO</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50.00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-21.9%</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2.86%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825026487"/>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13</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BUMI RESOURCES MINERALS</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BRMS</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820.00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4.5%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-25.5%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2.72%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505886807"/>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PETRINDO JAYA KREASI</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CUAN</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1,240.00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-4.6%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-47.0%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2.60%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140948949"/>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UNITED TRACTORS</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UNTR</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29,350.00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-0.5%</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2.01%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866920647"/>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CHAROEN POKPHAND INDO</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CPIN</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4,040.00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-1.2%</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-10.4%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1.71%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1668109603"/>
                  </a:ext>
                </a:extLst>
              </a:tr>
              <a:tr h="78955">
                <a:tc>
                  <a:txBody>
                    <a:bodyPr/>
                    <a:lstStyle/>
                    <a:p>
                      <a:pPr algn="ctr" rtl="0" fontAlgn="ctr">
                        <a:buNone/>
                      </a:pPr>
                      <a:r>
                        <a:rPr lang="en-ID" sz="800" b="0" i="0" u="none" strike="noStrike">
                          <a:solidFill>
                            <a:srgbClr val="002036"/>
                          </a:solidFill>
                          <a:effectLst/>
                          <a:latin typeface="Calibri" panose="020F0502020204030204" pitchFamily="34" charset="0"/>
                        </a:rPr>
                        <a:t>17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a:solidFill>
                            <a:srgbClr val="002036"/>
                          </a:solidFill>
                          <a:effectLst/>
                          <a:latin typeface="Calibri" panose="020F0502020204030204" pitchFamily="34" charset="0"/>
                        </a:rPr>
                        <a:t>SUMBER ALFARIA TRIJAYA</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AMRT</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1,520.00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5.6%</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-23.0%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1.70%</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3690193546"/>
                  </a:ext>
                </a:extLst>
              </a:tr>
              <a:tr h="78955">
                <a:tc>
                  <a:txBody>
                    <a:bodyPr/>
                    <a:lstStyle/>
                    <a:p>
                      <a:pPr algn="ctr" rtl="0" fontAlgn="ctr">
                        <a:buNone/>
                      </a:pPr>
                      <a:r>
                        <a:rPr lang="en-ID" sz="800" b="0" i="0" u="none" strike="noStrike" dirty="0">
                          <a:solidFill>
                            <a:srgbClr val="002036"/>
                          </a:solidFill>
                          <a:effectLst/>
                          <a:latin typeface="Calibri" panose="020F0502020204030204" pitchFamily="34" charset="0"/>
                        </a:rPr>
                        <a:t>18</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INDOFOOD SUKSES MAKMUR</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INDF</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 Rp             7,050.00 </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1.4%</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4.1%</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800" b="0" i="0" u="none" strike="noStrike" dirty="0">
                          <a:solidFill>
                            <a:srgbClr val="002036"/>
                          </a:solidFill>
                          <a:effectLst/>
                          <a:latin typeface="Calibri" panose="020F0502020204030204" pitchFamily="34" charset="0"/>
                        </a:rPr>
                        <a:t>1.57%</a:t>
                      </a:r>
                    </a:p>
                  </a:txBody>
                  <a:tcPr marL="5715" marR="5715" marT="57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963886099"/>
                  </a:ext>
                </a:extLst>
              </a:tr>
            </a:tbl>
          </a:graphicData>
        </a:graphic>
      </p:graphicFrame>
      <p:graphicFrame>
        <p:nvGraphicFramePr>
          <p:cNvPr id="11" name="Table 10">
            <a:extLst>
              <a:ext uri="{FF2B5EF4-FFF2-40B4-BE49-F238E27FC236}">
                <a16:creationId xmlns:a16="http://schemas.microsoft.com/office/drawing/2014/main" id="{07DA330F-550B-CCD9-35E8-942FC8A77341}"/>
              </a:ext>
            </a:extLst>
          </p:cNvPr>
          <p:cNvGraphicFramePr>
            <a:graphicFrameLocks noGrp="1"/>
          </p:cNvGraphicFramePr>
          <p:nvPr>
            <p:extLst>
              <p:ext uri="{D42A27DB-BD31-4B8C-83A1-F6EECF244321}">
                <p14:modId xmlns:p14="http://schemas.microsoft.com/office/powerpoint/2010/main" val="3872646909"/>
              </p:ext>
            </p:extLst>
          </p:nvPr>
        </p:nvGraphicFramePr>
        <p:xfrm>
          <a:off x="145998" y="4039861"/>
          <a:ext cx="6504344" cy="1617672"/>
        </p:xfrm>
        <a:graphic>
          <a:graphicData uri="http://schemas.openxmlformats.org/drawingml/2006/table">
            <a:tbl>
              <a:tblPr/>
              <a:tblGrid>
                <a:gridCol w="243532">
                  <a:extLst>
                    <a:ext uri="{9D8B030D-6E8A-4147-A177-3AD203B41FA5}">
                      <a16:colId xmlns:a16="http://schemas.microsoft.com/office/drawing/2014/main" val="2785952690"/>
                    </a:ext>
                  </a:extLst>
                </a:gridCol>
                <a:gridCol w="416035">
                  <a:extLst>
                    <a:ext uri="{9D8B030D-6E8A-4147-A177-3AD203B41FA5}">
                      <a16:colId xmlns:a16="http://schemas.microsoft.com/office/drawing/2014/main" val="2522528268"/>
                    </a:ext>
                  </a:extLst>
                </a:gridCol>
                <a:gridCol w="1400311">
                  <a:extLst>
                    <a:ext uri="{9D8B030D-6E8A-4147-A177-3AD203B41FA5}">
                      <a16:colId xmlns:a16="http://schemas.microsoft.com/office/drawing/2014/main" val="741281174"/>
                    </a:ext>
                  </a:extLst>
                </a:gridCol>
                <a:gridCol w="1410458">
                  <a:extLst>
                    <a:ext uri="{9D8B030D-6E8A-4147-A177-3AD203B41FA5}">
                      <a16:colId xmlns:a16="http://schemas.microsoft.com/office/drawing/2014/main" val="581710111"/>
                    </a:ext>
                  </a:extLst>
                </a:gridCol>
                <a:gridCol w="598684">
                  <a:extLst>
                    <a:ext uri="{9D8B030D-6E8A-4147-A177-3AD203B41FA5}">
                      <a16:colId xmlns:a16="http://schemas.microsoft.com/office/drawing/2014/main" val="3742667100"/>
                    </a:ext>
                  </a:extLst>
                </a:gridCol>
                <a:gridCol w="476918">
                  <a:extLst>
                    <a:ext uri="{9D8B030D-6E8A-4147-A177-3AD203B41FA5}">
                      <a16:colId xmlns:a16="http://schemas.microsoft.com/office/drawing/2014/main" val="940427019"/>
                    </a:ext>
                  </a:extLst>
                </a:gridCol>
                <a:gridCol w="436329">
                  <a:extLst>
                    <a:ext uri="{9D8B030D-6E8A-4147-A177-3AD203B41FA5}">
                      <a16:colId xmlns:a16="http://schemas.microsoft.com/office/drawing/2014/main" val="3654946257"/>
                    </a:ext>
                  </a:extLst>
                </a:gridCol>
                <a:gridCol w="892952">
                  <a:extLst>
                    <a:ext uri="{9D8B030D-6E8A-4147-A177-3AD203B41FA5}">
                      <a16:colId xmlns:a16="http://schemas.microsoft.com/office/drawing/2014/main" val="2569294914"/>
                    </a:ext>
                  </a:extLst>
                </a:gridCol>
                <a:gridCol w="629125">
                  <a:extLst>
                    <a:ext uri="{9D8B030D-6E8A-4147-A177-3AD203B41FA5}">
                      <a16:colId xmlns:a16="http://schemas.microsoft.com/office/drawing/2014/main" val="898218493"/>
                    </a:ext>
                  </a:extLst>
                </a:gridCol>
              </a:tblGrid>
              <a:tr h="134806">
                <a:tc gridSpan="9">
                  <a:txBody>
                    <a:bodyPr/>
                    <a:lstStyle/>
                    <a:p>
                      <a:pPr algn="ctr" fontAlgn="b">
                        <a:buNone/>
                      </a:pPr>
                      <a:r>
                        <a:rPr lang="en-ID" sz="700" b="1" i="0" u="none" strike="noStrike" dirty="0">
                          <a:solidFill>
                            <a:srgbClr val="FFFFFF"/>
                          </a:solidFill>
                          <a:effectLst/>
                          <a:latin typeface="Arial" panose="020B0604020202020204" pitchFamily="34" charset="0"/>
                        </a:rPr>
                        <a:t>07/05/2026</a:t>
                      </a:r>
                    </a:p>
                  </a:txBody>
                  <a:tcPr marL="4815" marR="4815" marT="4815" marB="0" anchor="b">
                    <a:lnL>
                      <a:noFill/>
                    </a:lnL>
                    <a:lnR>
                      <a:noFill/>
                    </a:lnR>
                    <a:lnT>
                      <a:noFill/>
                    </a:lnT>
                    <a:lnB w="12700" cap="flat" cmpd="sng" algn="ctr">
                      <a:solidFill>
                        <a:srgbClr val="FFFFFF"/>
                      </a:solidFill>
                      <a:prstDash val="solid"/>
                      <a:round/>
                      <a:headEnd type="none" w="med" len="med"/>
                      <a:tailEnd type="none" w="med" len="med"/>
                    </a:lnB>
                    <a:solidFill>
                      <a:srgbClr val="0C769E"/>
                    </a:solidFill>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tc hMerge="1">
                  <a:txBody>
                    <a:bodyPr/>
                    <a:lstStyle/>
                    <a:p>
                      <a:endParaRPr lang="en-ID"/>
                    </a:p>
                  </a:txBody>
                  <a:tcPr/>
                </a:tc>
                <a:extLst>
                  <a:ext uri="{0D108BD9-81ED-4DB2-BD59-A6C34878D82A}">
                    <a16:rowId xmlns:a16="http://schemas.microsoft.com/office/drawing/2014/main" val="1469999371"/>
                  </a:ext>
                </a:extLst>
              </a:tr>
              <a:tr h="134806">
                <a:tc>
                  <a:txBody>
                    <a:bodyPr/>
                    <a:lstStyle/>
                    <a:p>
                      <a:pPr algn="ctr" rtl="0" fontAlgn="ctr">
                        <a:buNone/>
                      </a:pPr>
                      <a:r>
                        <a:rPr lang="en-ID" sz="700" b="1" i="0" u="none" strike="noStrike">
                          <a:solidFill>
                            <a:srgbClr val="FFFFFF"/>
                          </a:solidFill>
                          <a:effectLst/>
                          <a:latin typeface="Calibri" panose="020F0502020204030204" pitchFamily="34" charset="0"/>
                        </a:rPr>
                        <a:t>No.</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Ticker</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Security Name</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ICB Industry Breakdown</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Price</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Daily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dirty="0">
                          <a:solidFill>
                            <a:srgbClr val="FFFFFF"/>
                          </a:solidFill>
                          <a:effectLst/>
                          <a:latin typeface="Calibri" panose="020F0502020204030204" pitchFamily="34" charset="0"/>
                        </a:rPr>
                        <a:t>YTD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dirty="0">
                          <a:solidFill>
                            <a:srgbClr val="FFFFFF"/>
                          </a:solidFill>
                          <a:effectLst/>
                          <a:latin typeface="Calibri" panose="020F0502020204030204" pitchFamily="34" charset="0"/>
                        </a:rPr>
                        <a:t>Market Cap (USD </a:t>
                      </a:r>
                      <a:r>
                        <a:rPr lang="en-ID" sz="700" b="1" i="0" u="none" strike="noStrike" dirty="0" err="1">
                          <a:solidFill>
                            <a:srgbClr val="FFFFFF"/>
                          </a:solidFill>
                          <a:effectLst/>
                          <a:latin typeface="Calibri" panose="020F0502020204030204" pitchFamily="34" charset="0"/>
                        </a:rPr>
                        <a:t>mn</a:t>
                      </a:r>
                      <a:r>
                        <a:rPr lang="en-ID" sz="700" b="1" i="0" u="none" strike="noStrike" dirty="0">
                          <a:solidFill>
                            <a:srgbClr val="FFFFFF"/>
                          </a:solidFill>
                          <a:effectLst/>
                          <a:latin typeface="Calibri" panose="020F0502020204030204" pitchFamily="34" charset="0"/>
                        </a:rPr>
                        <a:t>)</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D" sz="700" b="1" i="0" u="none" strike="noStrike">
                          <a:solidFill>
                            <a:srgbClr val="FFFFFF"/>
                          </a:solidFill>
                          <a:effectLst/>
                          <a:latin typeface="Calibri" panose="020F0502020204030204" pitchFamily="34" charset="0"/>
                        </a:rPr>
                        <a:t>Weighting</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3343511862"/>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1</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BBCA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 Central Asia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5,950.00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0.0%</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-26.3%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42,325</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19.9%</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3057343671"/>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2</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BBRI</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 Rakyat Indonesia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3,160.00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-13.7%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27,636</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12.1%</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1215219881"/>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BMRI</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 Mandiri</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4,510.00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0.5%</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-11.6%</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24,289</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11.1%</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111577756"/>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TLKM</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Telkom Indonesia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Telecommunication</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2,900.00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-16.7%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16,577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7.6%</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856754867"/>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5</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ASII</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Astra International</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Automobile and Parts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5,750.00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-2.1%</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-14.2%</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13,432</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6.8%</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13045858"/>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6</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DSSA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Dian Swastatika Sentosa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Oil Gas and Coal</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1,480.00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-63.4%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16,451</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6.2%</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98967963"/>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AMMN</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Amman Mineral Internasional</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Precious Metals and Mining</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5,000.00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-3.4%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-22.2%</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20,923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3.9%</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571339865"/>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8</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BRPT</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Barito Pacific</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Chemicals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2,290.00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-30.0%</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12,388</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3.4%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4027254283"/>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9</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BBNI</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 Negara Indonesia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Banks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3,830.00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-12.4%</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8,243</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2.6%</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180107537"/>
                  </a:ext>
                </a:extLst>
              </a:tr>
              <a:tr h="134806">
                <a:tc>
                  <a:txBody>
                    <a:bodyPr/>
                    <a:lstStyle/>
                    <a:p>
                      <a:pPr algn="ctr" rtl="0" fontAlgn="ctr">
                        <a:buNone/>
                      </a:pPr>
                      <a:r>
                        <a:rPr lang="en-ID" sz="700" b="0" i="0" u="none" strike="noStrike">
                          <a:solidFill>
                            <a:srgbClr val="002036"/>
                          </a:solidFill>
                          <a:effectLst/>
                          <a:latin typeface="Calibri" panose="020F0502020204030204" pitchFamily="34" charset="0"/>
                        </a:rPr>
                        <a:t>10</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GOTO</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GoTo Gojek Tokopedia</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a:solidFill>
                            <a:srgbClr val="002036"/>
                          </a:solidFill>
                          <a:effectLst/>
                          <a:latin typeface="Calibri" panose="020F0502020204030204" pitchFamily="34" charset="0"/>
                        </a:rPr>
                        <a:t>Software and Computer Services</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 Rp          50.00 </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0.0%</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-21.9%</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3,437</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buNone/>
                      </a:pPr>
                      <a:r>
                        <a:rPr lang="en-ID" sz="700" b="0" i="0" u="none" strike="noStrike" dirty="0">
                          <a:solidFill>
                            <a:srgbClr val="002036"/>
                          </a:solidFill>
                          <a:effectLst/>
                          <a:latin typeface="Calibri" panose="020F0502020204030204" pitchFamily="34" charset="0"/>
                        </a:rPr>
                        <a:t>2.5%</a:t>
                      </a:r>
                    </a:p>
                  </a:txBody>
                  <a:tcPr marL="4815" marR="4815" marT="48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158023385"/>
                  </a:ext>
                </a:extLst>
              </a:tr>
            </a:tbl>
          </a:graphicData>
        </a:graphic>
      </p:graphicFrame>
    </p:spTree>
    <p:extLst>
      <p:ext uri="{BB962C8B-B14F-4D97-AF65-F5344CB8AC3E}">
        <p14:creationId xmlns:p14="http://schemas.microsoft.com/office/powerpoint/2010/main" val="2258373668"/>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NCC VCC - GCF">
      <a:dk1>
        <a:srgbClr val="004D8C"/>
      </a:dk1>
      <a:lt1>
        <a:srgbClr val="FFFFFF"/>
      </a:lt1>
      <a:dk2>
        <a:srgbClr val="327179"/>
      </a:dk2>
      <a:lt2>
        <a:srgbClr val="09A7A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42639</TotalTime>
  <Words>2236</Words>
  <Application>Microsoft Office PowerPoint</Application>
  <PresentationFormat>A4 Paper (210x297 mm)</PresentationFormat>
  <Paragraphs>453</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Cure</dc:title>
  <dc:creator>Julian Eka Wardhana</dc:creator>
  <cp:lastModifiedBy>User</cp:lastModifiedBy>
  <cp:revision>655</cp:revision>
  <cp:lastPrinted>2025-10-24T04:31:35Z</cp:lastPrinted>
  <dcterms:created xsi:type="dcterms:W3CDTF">2019-07-01T03:49:52Z</dcterms:created>
  <dcterms:modified xsi:type="dcterms:W3CDTF">2026-06-07T13:11:46Z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2024-07-05T01:06:38Z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5fae4081-e3a2-42af-b3dc-bf27696751b8</vt:lpwstr>
  </property>
  <property fmtid="{D5CDD505-2E9C-101B-9397-08002B2CF9AE}" pid="8" name="MSIP_Label_38b525e5-f3da-4501-8f1e-526b6769fc56_ContentBits">
    <vt:lpwstr>0</vt:lpwstr>
  </property>
</Properties>
</file>